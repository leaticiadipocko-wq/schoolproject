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ARM_MASTER">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E63946"/>
          </a:solidFill>
          <a:ln/>
        </p:spPr>
      </p:sp>
      <p:sp>
        <p:nvSpPr>
          <p:cNvPr id="3" name="Shape 1"/>
          <p:cNvSpPr/>
          <p:nvPr/>
        </p:nvSpPr>
        <p:spPr>
          <a:xfrm>
            <a:off x="0" y="6492240"/>
            <a:ext cx="12188952" cy="365760"/>
          </a:xfrm>
          <a:prstGeom prst="rect">
            <a:avLst/>
          </a:prstGeom>
          <a:solidFill>
            <a:srgbClr val="1E3AA0"/>
          </a:solidFill>
          <a:ln/>
        </p:spPr>
      </p:sp>
      <p:sp>
        <p:nvSpPr>
          <p:cNvPr id="4" name="Text 2"/>
          <p:cNvSpPr/>
          <p:nvPr/>
        </p:nvSpPr>
        <p:spPr>
          <a:xfrm>
            <a:off x="365760" y="6519672"/>
            <a:ext cx="7315200" cy="310896"/>
          </a:xfrm>
          <a:prstGeom prst="rect">
            <a:avLst/>
          </a:prstGeom>
          <a:noFill/>
          <a:ln/>
        </p:spPr>
        <p:txBody>
          <a:bodyPr wrap="square" rtlCol="0" anchor="ctr"/>
          <a:lstStyle/>
          <a:p>
            <a:pPr indent="0" marL="0">
              <a:buNone/>
            </a:pPr>
            <a:r>
              <a:rPr lang="en-US" sz="1000" dirty="0">
                <a:solidFill>
                  <a:srgbClr val="FFFFFF"/>
                </a:solidFill>
                <a:latin typeface="Times New Roman" pitchFamily="34" charset="0"/>
                <a:ea typeface="Times New Roman" pitchFamily="34" charset="-122"/>
                <a:cs typeface="Times New Roman" pitchFamily="34" charset="-120"/>
              </a:rPr>
              <a:t>SIARM  |  IUGET Bonaberi</a:t>
            </a:r>
            <a:endParaRPr lang="en-US" sz="1000" dirty="0"/>
          </a:p>
        </p:txBody>
      </p:sp>
      <p:sp>
        <p:nvSpPr>
          <p:cNvPr id="5" name="Text 3"/>
          <p:cNvSpPr/>
          <p:nvPr/>
        </p:nvSpPr>
        <p:spPr>
          <a:xfrm>
            <a:off x="7772400" y="6519672"/>
            <a:ext cx="4114800" cy="310896"/>
          </a:xfrm>
          <a:prstGeom prst="rect">
            <a:avLst/>
          </a:prstGeom>
          <a:noFill/>
          <a:ln/>
        </p:spPr>
        <p:txBody>
          <a:bodyPr wrap="square"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Bachelor Project  |  2026</a:t>
            </a:r>
            <a:endParaRPr lang="en-US" sz="1000" dirty="0"/>
          </a:p>
        </p:txBody>
      </p:sp>
      <p:sp>
        <p:nvSpPr>
          <p:cNvPr id="25" name="Slide Number Placeholder 0"/>
          <p:cNvSpPr>
            <a:spLocks noGrp="1"/>
          </p:cNvSpPr>
          <p:nvPr>
            <p:ph type="sldNum" sz="quarter" idx="4294967295"/>
          </p:nvPr>
        </p:nvSpPr>
        <p:spPr>
          <a:xfrm>
            <a:off x="11612880" y="65379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Times New Roman"/>
                <a:ea typeface="Times New Roman"/>
                <a:cs typeface="Times New Roman"/>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12880" y="65379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Times New Roman"/>
                <a:ea typeface="Times New Roman"/>
                <a:cs typeface="Times New Roman"/>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3AA0"/>
          </a:solidFill>
          <a:ln/>
        </p:spPr>
      </p:sp>
      <p:sp>
        <p:nvSpPr>
          <p:cNvPr id="3" name="Shape 1"/>
          <p:cNvSpPr/>
          <p:nvPr/>
        </p:nvSpPr>
        <p:spPr>
          <a:xfrm>
            <a:off x="0" y="0"/>
            <a:ext cx="12188952" cy="109728"/>
          </a:xfrm>
          <a:prstGeom prst="rect">
            <a:avLst/>
          </a:prstGeom>
          <a:solidFill>
            <a:srgbClr val="E63946"/>
          </a:solidFill>
          <a:ln/>
        </p:spPr>
      </p:sp>
      <p:pic>
        <p:nvPicPr>
          <p:cNvPr id="4" name="Image 0" descr="/home/daytona/project/public/brand/iuget-logo-white.png">    </p:cNvPr>
          <p:cNvPicPr>
            <a:picLocks noChangeAspect="1"/>
          </p:cNvPicPr>
          <p:nvPr/>
        </p:nvPicPr>
        <p:blipFill>
          <a:blip r:embed="rId1"/>
          <a:stretch>
            <a:fillRect/>
          </a:stretch>
        </p:blipFill>
        <p:spPr>
          <a:xfrm>
            <a:off x="5212080" y="640080"/>
            <a:ext cx="1828800" cy="1828800"/>
          </a:xfrm>
          <a:prstGeom prst="rect">
            <a:avLst/>
          </a:prstGeom>
        </p:spPr>
      </p:pic>
      <p:sp>
        <p:nvSpPr>
          <p:cNvPr id="5" name="Text 2"/>
          <p:cNvSpPr/>
          <p:nvPr/>
        </p:nvSpPr>
        <p:spPr>
          <a:xfrm>
            <a:off x="457200" y="2651760"/>
            <a:ext cx="11247120" cy="365760"/>
          </a:xfrm>
          <a:prstGeom prst="rect">
            <a:avLst/>
          </a:prstGeom>
          <a:noFill/>
          <a:ln/>
        </p:spPr>
        <p:txBody>
          <a:bodyPr wrap="square" rtlCol="0" anchor="ctr"/>
          <a:lstStyle/>
          <a:p>
            <a:pPr algn="ctr" indent="0" marL="0">
              <a:buNone/>
            </a:pPr>
            <a:r>
              <a:rPr lang="en-US" sz="1400" b="1" spc="300" kern="0" dirty="0">
                <a:solidFill>
                  <a:srgbClr val="C7D2FE"/>
                </a:solidFill>
                <a:latin typeface="Times New Roman" pitchFamily="34" charset="0"/>
                <a:ea typeface="Times New Roman" pitchFamily="34" charset="-122"/>
                <a:cs typeface="Times New Roman" pitchFamily="34" charset="-120"/>
              </a:rPr>
              <a:t>INSTITUT UNIVERSITAIRE DU GOLFE DE GUINEE</a:t>
            </a:r>
            <a:endParaRPr lang="en-US" sz="1400" dirty="0"/>
          </a:p>
        </p:txBody>
      </p:sp>
      <p:sp>
        <p:nvSpPr>
          <p:cNvPr id="6" name="Text 3"/>
          <p:cNvSpPr/>
          <p:nvPr/>
        </p:nvSpPr>
        <p:spPr>
          <a:xfrm>
            <a:off x="457200" y="2971800"/>
            <a:ext cx="11247120" cy="320040"/>
          </a:xfrm>
          <a:prstGeom prst="rect">
            <a:avLst/>
          </a:prstGeom>
          <a:noFill/>
          <a:ln/>
        </p:spPr>
        <p:txBody>
          <a:bodyPr wrap="square" rtlCol="0" anchor="ctr"/>
          <a:lstStyle/>
          <a:p>
            <a:pPr algn="ctr" indent="0" marL="0">
              <a:buNone/>
            </a:pPr>
            <a:r>
              <a:rPr lang="en-US" sz="1200" i="1" dirty="0">
                <a:solidFill>
                  <a:srgbClr val="BFD4FE"/>
                </a:solidFill>
                <a:latin typeface="Times New Roman" pitchFamily="34" charset="0"/>
                <a:ea typeface="Times New Roman" pitchFamily="34" charset="-122"/>
                <a:cs typeface="Times New Roman" pitchFamily="34" charset="-120"/>
              </a:rPr>
              <a:t>"Bien choisir, c'est deja reussir"</a:t>
            </a:r>
            <a:endParaRPr lang="en-US" sz="1200" dirty="0"/>
          </a:p>
        </p:txBody>
      </p:sp>
      <p:sp>
        <p:nvSpPr>
          <p:cNvPr id="7" name="Text 4"/>
          <p:cNvSpPr/>
          <p:nvPr/>
        </p:nvSpPr>
        <p:spPr>
          <a:xfrm>
            <a:off x="457200" y="3566160"/>
            <a:ext cx="11247120" cy="1371600"/>
          </a:xfrm>
          <a:prstGeom prst="rect">
            <a:avLst/>
          </a:prstGeom>
          <a:noFill/>
          <a:ln/>
        </p:spPr>
        <p:txBody>
          <a:bodyPr wrap="square" rtlCol="0" anchor="ctr"/>
          <a:lstStyle/>
          <a:p>
            <a:pPr algn="ctr" indent="0" marL="0">
              <a:buNone/>
            </a:pPr>
            <a:r>
              <a:rPr lang="en-US" sz="11000" b="1" dirty="0">
                <a:solidFill>
                  <a:srgbClr val="FFFFFF"/>
                </a:solidFill>
                <a:latin typeface="Times New Roman" pitchFamily="34" charset="0"/>
                <a:ea typeface="Times New Roman" pitchFamily="34" charset="-122"/>
                <a:cs typeface="Times New Roman" pitchFamily="34" charset="-120"/>
              </a:rPr>
              <a:t>SIARM</a:t>
            </a:r>
            <a:endParaRPr lang="en-US" sz="11000" dirty="0"/>
          </a:p>
        </p:txBody>
      </p:sp>
      <p:sp>
        <p:nvSpPr>
          <p:cNvPr id="8" name="Text 5"/>
          <p:cNvSpPr/>
          <p:nvPr/>
        </p:nvSpPr>
        <p:spPr>
          <a:xfrm>
            <a:off x="457200" y="4937760"/>
            <a:ext cx="11247120" cy="457200"/>
          </a:xfrm>
          <a:prstGeom prst="rect">
            <a:avLst/>
          </a:prstGeom>
          <a:noFill/>
          <a:ln/>
        </p:spPr>
        <p:txBody>
          <a:bodyPr wrap="square" rtlCol="0" anchor="ctr"/>
          <a:lstStyle/>
          <a:p>
            <a:pPr algn="ctr" indent="0" marL="0">
              <a:buNone/>
            </a:pPr>
            <a:r>
              <a:rPr lang="en-US" sz="2200" dirty="0">
                <a:solidFill>
                  <a:srgbClr val="C7D2FE"/>
                </a:solidFill>
                <a:latin typeface="Times New Roman" pitchFamily="34" charset="0"/>
                <a:ea typeface="Times New Roman" pitchFamily="34" charset="-122"/>
                <a:cs typeface="Times New Roman" pitchFamily="34" charset="-120"/>
              </a:rPr>
              <a:t>Smart Institution Academic Resource Management</a:t>
            </a:r>
            <a:endParaRPr lang="en-US" sz="2200" dirty="0"/>
          </a:p>
        </p:txBody>
      </p:sp>
      <p:sp>
        <p:nvSpPr>
          <p:cNvPr id="9" name="Text 6"/>
          <p:cNvSpPr/>
          <p:nvPr/>
        </p:nvSpPr>
        <p:spPr>
          <a:xfrm>
            <a:off x="457200" y="6035040"/>
            <a:ext cx="11247120" cy="365760"/>
          </a:xfrm>
          <a:prstGeom prst="rect">
            <a:avLst/>
          </a:prstGeom>
          <a:noFill/>
          <a:ln/>
        </p:spPr>
        <p:txBody>
          <a:bodyPr wrap="square" rtlCol="0" anchor="ctr"/>
          <a:lstStyle/>
          <a:p>
            <a:pPr algn="ctr" indent="0" marL="0">
              <a:buNone/>
            </a:pPr>
            <a:r>
              <a:rPr lang="en-US" sz="1400" dirty="0">
                <a:solidFill>
                  <a:srgbClr val="BFD4FE"/>
                </a:solidFill>
                <a:latin typeface="Times New Roman" pitchFamily="34" charset="0"/>
                <a:ea typeface="Times New Roman" pitchFamily="34" charset="-122"/>
                <a:cs typeface="Times New Roman" pitchFamily="34" charset="-120"/>
              </a:rPr>
              <a:t>James Murdza  |  Level 3 Software Engineering  |  2025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indent="0" marL="0">
              <a:buNone/>
            </a:pPr>
            <a:r>
              <a:rPr lang="en-US" sz="3200" b="1" dirty="0">
                <a:solidFill>
                  <a:srgbClr val="1E3AA0"/>
                </a:solidFill>
                <a:latin typeface="Times New Roman" pitchFamily="34" charset="0"/>
                <a:ea typeface="Times New Roman" pitchFamily="34" charset="-122"/>
                <a:cs typeface="Times New Roman" pitchFamily="34" charset="-120"/>
              </a:rPr>
              <a:t>Student Information</a:t>
            </a:r>
            <a:endParaRPr lang="en-US" sz="3200" dirty="0"/>
          </a:p>
        </p:txBody>
      </p:sp>
      <p:sp>
        <p:nvSpPr>
          <p:cNvPr id="3" name="Text 1"/>
          <p:cNvSpPr/>
          <p:nvPr/>
        </p:nvSpPr>
        <p:spPr>
          <a:xfrm>
            <a:off x="457200" y="960120"/>
            <a:ext cx="11247120" cy="365760"/>
          </a:xfrm>
          <a:prstGeom prst="rect">
            <a:avLst/>
          </a:prstGeom>
          <a:noFill/>
          <a:ln/>
        </p:spPr>
        <p:txBody>
          <a:bodyPr wrap="square" rtlCol="0" anchor="ctr"/>
          <a:lstStyle/>
          <a:p>
            <a:pPr indent="0" marL="0">
              <a:buNone/>
            </a:pPr>
            <a:r>
              <a:rPr lang="en-US" sz="1500" i="1" dirty="0">
                <a:solidFill>
                  <a:srgbClr val="E63946"/>
                </a:solidFill>
                <a:latin typeface="Times New Roman" pitchFamily="34" charset="0"/>
                <a:ea typeface="Times New Roman" pitchFamily="34" charset="-122"/>
                <a:cs typeface="Times New Roman" pitchFamily="34" charset="-120"/>
              </a:rPr>
              <a:t>Bachelor of Technology  |  Software Engineering</a:t>
            </a:r>
            <a:endParaRPr lang="en-US" sz="1500" dirty="0"/>
          </a:p>
        </p:txBody>
      </p:sp>
      <p:sp>
        <p:nvSpPr>
          <p:cNvPr id="4" name="Shape 2"/>
          <p:cNvSpPr/>
          <p:nvPr/>
        </p:nvSpPr>
        <p:spPr>
          <a:xfrm>
            <a:off x="548640" y="1645920"/>
            <a:ext cx="3657600" cy="548640"/>
          </a:xfrm>
          <a:prstGeom prst="roundRect">
            <a:avLst>
              <a:gd name="adj" fmla="val 13333"/>
            </a:avLst>
          </a:prstGeom>
          <a:solidFill>
            <a:srgbClr val="1E3AA0"/>
          </a:solidFill>
          <a:ln/>
        </p:spPr>
      </p:sp>
      <p:sp>
        <p:nvSpPr>
          <p:cNvPr id="5" name="Text 3"/>
          <p:cNvSpPr/>
          <p:nvPr/>
        </p:nvSpPr>
        <p:spPr>
          <a:xfrm>
            <a:off x="548640" y="1645920"/>
            <a:ext cx="3657600" cy="548640"/>
          </a:xfrm>
          <a:prstGeom prst="rect">
            <a:avLst/>
          </a:prstGeom>
          <a:noFill/>
          <a:ln/>
        </p:spPr>
        <p:txBody>
          <a:bodyPr wrap="square"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Name</a:t>
            </a:r>
            <a:endParaRPr lang="en-US" sz="1600" dirty="0"/>
          </a:p>
        </p:txBody>
      </p:sp>
      <p:sp>
        <p:nvSpPr>
          <p:cNvPr id="6" name="Text 4"/>
          <p:cNvSpPr/>
          <p:nvPr/>
        </p:nvSpPr>
        <p:spPr>
          <a:xfrm>
            <a:off x="4572000" y="1645920"/>
            <a:ext cx="7132320" cy="548640"/>
          </a:xfrm>
          <a:prstGeom prst="rect">
            <a:avLst/>
          </a:prstGeom>
          <a:noFill/>
          <a:ln/>
        </p:spPr>
        <p:txBody>
          <a:bodyPr wrap="square" rtlCol="0" anchor="ctr"/>
          <a:lstStyle/>
          <a:p>
            <a:pPr indent="0" marL="0">
              <a:buNone/>
            </a:pPr>
            <a:r>
              <a:rPr lang="en-US" sz="1600" dirty="0">
                <a:solidFill>
                  <a:srgbClr val="1E293B"/>
                </a:solidFill>
                <a:latin typeface="Times New Roman" pitchFamily="34" charset="0"/>
                <a:ea typeface="Times New Roman" pitchFamily="34" charset="-122"/>
                <a:cs typeface="Times New Roman" pitchFamily="34" charset="-120"/>
              </a:rPr>
              <a:t>James Murdza</a:t>
            </a:r>
            <a:endParaRPr lang="en-US" sz="1600" dirty="0"/>
          </a:p>
        </p:txBody>
      </p:sp>
      <p:sp>
        <p:nvSpPr>
          <p:cNvPr id="7" name="Shape 5"/>
          <p:cNvSpPr/>
          <p:nvPr/>
        </p:nvSpPr>
        <p:spPr>
          <a:xfrm>
            <a:off x="548640" y="2331720"/>
            <a:ext cx="3657600" cy="548640"/>
          </a:xfrm>
          <a:prstGeom prst="roundRect">
            <a:avLst>
              <a:gd name="adj" fmla="val 13333"/>
            </a:avLst>
          </a:prstGeom>
          <a:solidFill>
            <a:srgbClr val="1E3AA0"/>
          </a:solidFill>
          <a:ln/>
        </p:spPr>
      </p:sp>
      <p:sp>
        <p:nvSpPr>
          <p:cNvPr id="8" name="Text 6"/>
          <p:cNvSpPr/>
          <p:nvPr/>
        </p:nvSpPr>
        <p:spPr>
          <a:xfrm>
            <a:off x="548640" y="2331720"/>
            <a:ext cx="3657600" cy="548640"/>
          </a:xfrm>
          <a:prstGeom prst="rect">
            <a:avLst/>
          </a:prstGeom>
          <a:noFill/>
          <a:ln/>
        </p:spPr>
        <p:txBody>
          <a:bodyPr wrap="square"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Department</a:t>
            </a:r>
            <a:endParaRPr lang="en-US" sz="1600" dirty="0"/>
          </a:p>
        </p:txBody>
      </p:sp>
      <p:sp>
        <p:nvSpPr>
          <p:cNvPr id="9" name="Text 7"/>
          <p:cNvSpPr/>
          <p:nvPr/>
        </p:nvSpPr>
        <p:spPr>
          <a:xfrm>
            <a:off x="4572000" y="2331720"/>
            <a:ext cx="7132320" cy="548640"/>
          </a:xfrm>
          <a:prstGeom prst="rect">
            <a:avLst/>
          </a:prstGeom>
          <a:noFill/>
          <a:ln/>
        </p:spPr>
        <p:txBody>
          <a:bodyPr wrap="square" rtlCol="0" anchor="ctr"/>
          <a:lstStyle/>
          <a:p>
            <a:pPr indent="0" marL="0">
              <a:buNone/>
            </a:pPr>
            <a:r>
              <a:rPr lang="en-US" sz="1600" dirty="0">
                <a:solidFill>
                  <a:srgbClr val="1E293B"/>
                </a:solidFill>
                <a:latin typeface="Times New Roman" pitchFamily="34" charset="0"/>
                <a:ea typeface="Times New Roman" pitchFamily="34" charset="-122"/>
                <a:cs typeface="Times New Roman" pitchFamily="34" charset="-120"/>
              </a:rPr>
              <a:t>Software Engineering</a:t>
            </a:r>
            <a:endParaRPr lang="en-US" sz="1600" dirty="0"/>
          </a:p>
        </p:txBody>
      </p:sp>
      <p:sp>
        <p:nvSpPr>
          <p:cNvPr id="10" name="Shape 8"/>
          <p:cNvSpPr/>
          <p:nvPr/>
        </p:nvSpPr>
        <p:spPr>
          <a:xfrm>
            <a:off x="548640" y="3017520"/>
            <a:ext cx="3657600" cy="548640"/>
          </a:xfrm>
          <a:prstGeom prst="roundRect">
            <a:avLst>
              <a:gd name="adj" fmla="val 13333"/>
            </a:avLst>
          </a:prstGeom>
          <a:solidFill>
            <a:srgbClr val="1E3AA0"/>
          </a:solidFill>
          <a:ln/>
        </p:spPr>
      </p:sp>
      <p:sp>
        <p:nvSpPr>
          <p:cNvPr id="11" name="Text 9"/>
          <p:cNvSpPr/>
          <p:nvPr/>
        </p:nvSpPr>
        <p:spPr>
          <a:xfrm>
            <a:off x="548640" y="3017520"/>
            <a:ext cx="3657600" cy="548640"/>
          </a:xfrm>
          <a:prstGeom prst="rect">
            <a:avLst/>
          </a:prstGeom>
          <a:noFill/>
          <a:ln/>
        </p:spPr>
        <p:txBody>
          <a:bodyPr wrap="square"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Level</a:t>
            </a:r>
            <a:endParaRPr lang="en-US" sz="1600" dirty="0"/>
          </a:p>
        </p:txBody>
      </p:sp>
      <p:sp>
        <p:nvSpPr>
          <p:cNvPr id="12" name="Text 10"/>
          <p:cNvSpPr/>
          <p:nvPr/>
        </p:nvSpPr>
        <p:spPr>
          <a:xfrm>
            <a:off x="4572000" y="3017520"/>
            <a:ext cx="7132320" cy="548640"/>
          </a:xfrm>
          <a:prstGeom prst="rect">
            <a:avLst/>
          </a:prstGeom>
          <a:noFill/>
          <a:ln/>
        </p:spPr>
        <p:txBody>
          <a:bodyPr wrap="square" rtlCol="0" anchor="ctr"/>
          <a:lstStyle/>
          <a:p>
            <a:pPr indent="0" marL="0">
              <a:buNone/>
            </a:pPr>
            <a:r>
              <a:rPr lang="en-US" sz="1600" dirty="0">
                <a:solidFill>
                  <a:srgbClr val="1E293B"/>
                </a:solidFill>
                <a:latin typeface="Times New Roman" pitchFamily="34" charset="0"/>
                <a:ea typeface="Times New Roman" pitchFamily="34" charset="-122"/>
                <a:cs typeface="Times New Roman" pitchFamily="34" charset="-120"/>
              </a:rPr>
              <a:t>Level 3  |  Sixth Semester</a:t>
            </a:r>
            <a:endParaRPr lang="en-US" sz="1600" dirty="0"/>
          </a:p>
        </p:txBody>
      </p:sp>
      <p:sp>
        <p:nvSpPr>
          <p:cNvPr id="13" name="Shape 11"/>
          <p:cNvSpPr/>
          <p:nvPr/>
        </p:nvSpPr>
        <p:spPr>
          <a:xfrm>
            <a:off x="548640" y="3703320"/>
            <a:ext cx="3657600" cy="548640"/>
          </a:xfrm>
          <a:prstGeom prst="roundRect">
            <a:avLst>
              <a:gd name="adj" fmla="val 13333"/>
            </a:avLst>
          </a:prstGeom>
          <a:solidFill>
            <a:srgbClr val="1E3AA0"/>
          </a:solidFill>
          <a:ln/>
        </p:spPr>
      </p:sp>
      <p:sp>
        <p:nvSpPr>
          <p:cNvPr id="14" name="Text 12"/>
          <p:cNvSpPr/>
          <p:nvPr/>
        </p:nvSpPr>
        <p:spPr>
          <a:xfrm>
            <a:off x="548640" y="3703320"/>
            <a:ext cx="3657600" cy="548640"/>
          </a:xfrm>
          <a:prstGeom prst="rect">
            <a:avLst/>
          </a:prstGeom>
          <a:noFill/>
          <a:ln/>
        </p:spPr>
        <p:txBody>
          <a:bodyPr wrap="square"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Matricule</a:t>
            </a:r>
            <a:endParaRPr lang="en-US" sz="1600" dirty="0"/>
          </a:p>
        </p:txBody>
      </p:sp>
      <p:sp>
        <p:nvSpPr>
          <p:cNvPr id="15" name="Text 13"/>
          <p:cNvSpPr/>
          <p:nvPr/>
        </p:nvSpPr>
        <p:spPr>
          <a:xfrm>
            <a:off x="4572000" y="3703320"/>
            <a:ext cx="7132320" cy="548640"/>
          </a:xfrm>
          <a:prstGeom prst="rect">
            <a:avLst/>
          </a:prstGeom>
          <a:noFill/>
          <a:ln/>
        </p:spPr>
        <p:txBody>
          <a:bodyPr wrap="square" rtlCol="0" anchor="ctr"/>
          <a:lstStyle/>
          <a:p>
            <a:pPr indent="0" marL="0">
              <a:buNone/>
            </a:pPr>
            <a:r>
              <a:rPr lang="en-US" sz="1600" dirty="0">
                <a:solidFill>
                  <a:srgbClr val="1E293B"/>
                </a:solidFill>
                <a:latin typeface="Times New Roman" pitchFamily="34" charset="0"/>
                <a:ea typeface="Times New Roman" pitchFamily="34" charset="-122"/>
                <a:cs typeface="Times New Roman" pitchFamily="34" charset="-120"/>
              </a:rPr>
              <a:t>IUGET/2026/SWE/0011</a:t>
            </a:r>
            <a:endParaRPr lang="en-US" sz="1600" dirty="0"/>
          </a:p>
        </p:txBody>
      </p:sp>
      <p:sp>
        <p:nvSpPr>
          <p:cNvPr id="16" name="Shape 14"/>
          <p:cNvSpPr/>
          <p:nvPr/>
        </p:nvSpPr>
        <p:spPr>
          <a:xfrm>
            <a:off x="548640" y="4389120"/>
            <a:ext cx="3657600" cy="548640"/>
          </a:xfrm>
          <a:prstGeom prst="roundRect">
            <a:avLst>
              <a:gd name="adj" fmla="val 13333"/>
            </a:avLst>
          </a:prstGeom>
          <a:solidFill>
            <a:srgbClr val="1E3AA0"/>
          </a:solidFill>
          <a:ln/>
        </p:spPr>
      </p:sp>
      <p:sp>
        <p:nvSpPr>
          <p:cNvPr id="17" name="Text 15"/>
          <p:cNvSpPr/>
          <p:nvPr/>
        </p:nvSpPr>
        <p:spPr>
          <a:xfrm>
            <a:off x="548640" y="4389120"/>
            <a:ext cx="3657600" cy="548640"/>
          </a:xfrm>
          <a:prstGeom prst="rect">
            <a:avLst/>
          </a:prstGeom>
          <a:noFill/>
          <a:ln/>
        </p:spPr>
        <p:txBody>
          <a:bodyPr wrap="square"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Topic</a:t>
            </a:r>
            <a:endParaRPr lang="en-US" sz="1600" dirty="0"/>
          </a:p>
        </p:txBody>
      </p:sp>
      <p:sp>
        <p:nvSpPr>
          <p:cNvPr id="18" name="Text 16"/>
          <p:cNvSpPr/>
          <p:nvPr/>
        </p:nvSpPr>
        <p:spPr>
          <a:xfrm>
            <a:off x="4572000" y="4389120"/>
            <a:ext cx="7132320" cy="548640"/>
          </a:xfrm>
          <a:prstGeom prst="rect">
            <a:avLst/>
          </a:prstGeom>
          <a:noFill/>
          <a:ln/>
        </p:spPr>
        <p:txBody>
          <a:bodyPr wrap="square" rtlCol="0" anchor="ctr"/>
          <a:lstStyle/>
          <a:p>
            <a:pPr indent="0" marL="0">
              <a:buNone/>
            </a:pPr>
            <a:r>
              <a:rPr lang="en-US" sz="1600" dirty="0">
                <a:solidFill>
                  <a:srgbClr val="1E293B"/>
                </a:solidFill>
                <a:latin typeface="Times New Roman" pitchFamily="34" charset="0"/>
                <a:ea typeface="Times New Roman" pitchFamily="34" charset="-122"/>
                <a:cs typeface="Times New Roman" pitchFamily="34" charset="-120"/>
              </a:rPr>
              <a:t>SIARM: Smart Institution Academic Resource Management</a:t>
            </a:r>
            <a:endParaRPr lang="en-US" sz="1600" dirty="0"/>
          </a:p>
        </p:txBody>
      </p:sp>
      <p:sp>
        <p:nvSpPr>
          <p:cNvPr id="19" name="Shape 17"/>
          <p:cNvSpPr/>
          <p:nvPr/>
        </p:nvSpPr>
        <p:spPr>
          <a:xfrm>
            <a:off x="548640" y="5074920"/>
            <a:ext cx="3657600" cy="548640"/>
          </a:xfrm>
          <a:prstGeom prst="roundRect">
            <a:avLst>
              <a:gd name="adj" fmla="val 13333"/>
            </a:avLst>
          </a:prstGeom>
          <a:solidFill>
            <a:srgbClr val="1E3AA0"/>
          </a:solidFill>
          <a:ln/>
        </p:spPr>
      </p:sp>
      <p:sp>
        <p:nvSpPr>
          <p:cNvPr id="20" name="Text 18"/>
          <p:cNvSpPr/>
          <p:nvPr/>
        </p:nvSpPr>
        <p:spPr>
          <a:xfrm>
            <a:off x="548640" y="5074920"/>
            <a:ext cx="3657600" cy="548640"/>
          </a:xfrm>
          <a:prstGeom prst="rect">
            <a:avLst/>
          </a:prstGeom>
          <a:noFill/>
          <a:ln/>
        </p:spPr>
        <p:txBody>
          <a:bodyPr wrap="square"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Academic Year</a:t>
            </a:r>
            <a:endParaRPr lang="en-US" sz="1600" dirty="0"/>
          </a:p>
        </p:txBody>
      </p:sp>
      <p:sp>
        <p:nvSpPr>
          <p:cNvPr id="21" name="Text 19"/>
          <p:cNvSpPr/>
          <p:nvPr/>
        </p:nvSpPr>
        <p:spPr>
          <a:xfrm>
            <a:off x="4572000" y="5074920"/>
            <a:ext cx="7132320" cy="548640"/>
          </a:xfrm>
          <a:prstGeom prst="rect">
            <a:avLst/>
          </a:prstGeom>
          <a:noFill/>
          <a:ln/>
        </p:spPr>
        <p:txBody>
          <a:bodyPr wrap="square" rtlCol="0" anchor="ctr"/>
          <a:lstStyle/>
          <a:p>
            <a:pPr indent="0" marL="0">
              <a:buNone/>
            </a:pPr>
            <a:r>
              <a:rPr lang="en-US" sz="1600" dirty="0">
                <a:solidFill>
                  <a:srgbClr val="1E293B"/>
                </a:solidFill>
                <a:latin typeface="Times New Roman" pitchFamily="34" charset="0"/>
                <a:ea typeface="Times New Roman" pitchFamily="34" charset="-122"/>
                <a:cs typeface="Times New Roman" pitchFamily="34" charset="-120"/>
              </a:rPr>
              <a:t>2025 / 2026</a:t>
            </a:r>
            <a:endParaRPr lang="en-US" sz="1600" dirty="0"/>
          </a:p>
        </p:txBody>
      </p:sp>
      <p:sp>
        <p:nvSpPr>
          <p:cNvPr id="22" name="Shape 20"/>
          <p:cNvSpPr/>
          <p:nvPr/>
        </p:nvSpPr>
        <p:spPr>
          <a:xfrm>
            <a:off x="548640" y="5852160"/>
            <a:ext cx="11064240" cy="457200"/>
          </a:xfrm>
          <a:prstGeom prst="roundRect">
            <a:avLst>
              <a:gd name="adj" fmla="val 16000"/>
            </a:avLst>
          </a:prstGeom>
          <a:solidFill>
            <a:srgbClr val="EFF6FF"/>
          </a:solidFill>
          <a:ln w="12700">
            <a:solidFill>
              <a:srgbClr val="1E3AA0"/>
            </a:solidFill>
            <a:prstDash val="solid"/>
          </a:ln>
        </p:spPr>
      </p:sp>
      <p:sp>
        <p:nvSpPr>
          <p:cNvPr id="23" name="Text 21"/>
          <p:cNvSpPr/>
          <p:nvPr/>
        </p:nvSpPr>
        <p:spPr>
          <a:xfrm>
            <a:off x="548640" y="5852160"/>
            <a:ext cx="11064240" cy="457200"/>
          </a:xfrm>
          <a:prstGeom prst="rect">
            <a:avLst/>
          </a:prstGeom>
          <a:noFill/>
          <a:ln/>
        </p:spPr>
        <p:txBody>
          <a:bodyPr wrap="square" rtlCol="0" anchor="ctr"/>
          <a:lstStyle/>
          <a:p>
            <a:pPr algn="ctr" indent="0" marL="0">
              <a:buNone/>
            </a:pPr>
            <a:r>
              <a:rPr lang="en-US" sz="1300" b="1" dirty="0">
                <a:solidFill>
                  <a:srgbClr val="1E3AA0"/>
                </a:solidFill>
                <a:latin typeface="Times New Roman" pitchFamily="34" charset="0"/>
                <a:ea typeface="Times New Roman" pitchFamily="34" charset="-122"/>
                <a:cs typeface="Times New Roman" pitchFamily="34" charset="-120"/>
              </a:rPr>
              <a:t>Affiliated with the University of Bamenda  |  IUGET Bonaberi Campus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indent="0" marL="0">
              <a:buNone/>
            </a:pPr>
            <a:r>
              <a:rPr lang="en-US" sz="3200" b="1" dirty="0">
                <a:solidFill>
                  <a:srgbClr val="1E3AA0"/>
                </a:solidFill>
                <a:latin typeface="Times New Roman" pitchFamily="34" charset="0"/>
                <a:ea typeface="Times New Roman" pitchFamily="34" charset="-122"/>
                <a:cs typeface="Times New Roman" pitchFamily="34" charset="-120"/>
              </a:rPr>
              <a:t>Background of the Study</a:t>
            </a:r>
            <a:endParaRPr lang="en-US" sz="3200" dirty="0"/>
          </a:p>
        </p:txBody>
      </p:sp>
      <p:sp>
        <p:nvSpPr>
          <p:cNvPr id="3" name="Text 1"/>
          <p:cNvSpPr/>
          <p:nvPr/>
        </p:nvSpPr>
        <p:spPr>
          <a:xfrm>
            <a:off x="457200" y="960120"/>
            <a:ext cx="11247120" cy="365760"/>
          </a:xfrm>
          <a:prstGeom prst="rect">
            <a:avLst/>
          </a:prstGeom>
          <a:noFill/>
          <a:ln/>
        </p:spPr>
        <p:txBody>
          <a:bodyPr wrap="square" rtlCol="0" anchor="ctr"/>
          <a:lstStyle/>
          <a:p>
            <a:pPr indent="0" marL="0">
              <a:buNone/>
            </a:pPr>
            <a:r>
              <a:rPr lang="en-US" sz="1500" i="1" dirty="0">
                <a:solidFill>
                  <a:srgbClr val="E63946"/>
                </a:solidFill>
                <a:latin typeface="Times New Roman" pitchFamily="34" charset="0"/>
                <a:ea typeface="Times New Roman" pitchFamily="34" charset="-122"/>
                <a:cs typeface="Times New Roman" pitchFamily="34" charset="-120"/>
              </a:rPr>
              <a:t>The operational reality of Cameroonian private universities</a:t>
            </a:r>
            <a:endParaRPr lang="en-US" sz="1500" dirty="0"/>
          </a:p>
        </p:txBody>
      </p:sp>
      <p:sp>
        <p:nvSpPr>
          <p:cNvPr id="4" name="Shape 2"/>
          <p:cNvSpPr/>
          <p:nvPr/>
        </p:nvSpPr>
        <p:spPr>
          <a:xfrm>
            <a:off x="457200" y="1554480"/>
            <a:ext cx="3657600" cy="1920240"/>
          </a:xfrm>
          <a:prstGeom prst="roundRect">
            <a:avLst>
              <a:gd name="adj" fmla="val 4762"/>
            </a:avLst>
          </a:prstGeom>
          <a:solidFill>
            <a:srgbClr val="FFFFFF"/>
          </a:solidFill>
          <a:ln w="12700">
            <a:solidFill>
              <a:srgbClr val="1E3AA0"/>
            </a:solidFill>
            <a:prstDash val="solid"/>
          </a:ln>
        </p:spPr>
      </p:sp>
      <p:sp>
        <p:nvSpPr>
          <p:cNvPr id="5" name="Shape 3"/>
          <p:cNvSpPr/>
          <p:nvPr/>
        </p:nvSpPr>
        <p:spPr>
          <a:xfrm>
            <a:off x="457200" y="1554480"/>
            <a:ext cx="3657600" cy="457200"/>
          </a:xfrm>
          <a:prstGeom prst="rect">
            <a:avLst/>
          </a:prstGeom>
          <a:solidFill>
            <a:srgbClr val="1E3AA0"/>
          </a:solidFill>
          <a:ln/>
        </p:spPr>
      </p:sp>
      <p:sp>
        <p:nvSpPr>
          <p:cNvPr id="6" name="Text 4"/>
          <p:cNvSpPr/>
          <p:nvPr/>
        </p:nvSpPr>
        <p:spPr>
          <a:xfrm>
            <a:off x="457200" y="1554480"/>
            <a:ext cx="3657600" cy="457200"/>
          </a:xfrm>
          <a:prstGeom prst="rect">
            <a:avLst/>
          </a:prstGeom>
          <a:noFill/>
          <a:ln/>
        </p:spPr>
        <p:txBody>
          <a:bodyPr wrap="square"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Fragmented Systems</a:t>
            </a:r>
            <a:endParaRPr lang="en-US" sz="1500" dirty="0"/>
          </a:p>
        </p:txBody>
      </p:sp>
      <p:sp>
        <p:nvSpPr>
          <p:cNvPr id="7" name="Text 5"/>
          <p:cNvSpPr/>
          <p:nvPr/>
        </p:nvSpPr>
        <p:spPr>
          <a:xfrm>
            <a:off x="640080" y="2103120"/>
            <a:ext cx="3291840" cy="1280160"/>
          </a:xfrm>
          <a:prstGeom prst="rect">
            <a:avLst/>
          </a:prstGeom>
          <a:noFill/>
          <a:ln/>
        </p:spPr>
        <p:txBody>
          <a:bodyPr wrap="square" rtlCol="0" anchor="ctr"/>
          <a:lstStyle/>
          <a:p>
            <a:pPr algn="ctr" indent="0" marL="0">
              <a:buNone/>
            </a:pPr>
            <a:r>
              <a:rPr lang="en-US" sz="1300" dirty="0">
                <a:solidFill>
                  <a:srgbClr val="1E293B"/>
                </a:solidFill>
                <a:latin typeface="Times New Roman" pitchFamily="34" charset="0"/>
                <a:ea typeface="Times New Roman" pitchFamily="34" charset="-122"/>
                <a:cs typeface="Times New Roman" pitchFamily="34" charset="-120"/>
              </a:rPr>
              <a:t>Grades, fees, timetables and communication live in separate disconnected tools.</a:t>
            </a:r>
            <a:endParaRPr lang="en-US" sz="1300" dirty="0"/>
          </a:p>
        </p:txBody>
      </p:sp>
      <p:sp>
        <p:nvSpPr>
          <p:cNvPr id="8" name="Shape 6"/>
          <p:cNvSpPr/>
          <p:nvPr/>
        </p:nvSpPr>
        <p:spPr>
          <a:xfrm>
            <a:off x="4343400" y="1554480"/>
            <a:ext cx="3657600" cy="1920240"/>
          </a:xfrm>
          <a:prstGeom prst="roundRect">
            <a:avLst>
              <a:gd name="adj" fmla="val 4762"/>
            </a:avLst>
          </a:prstGeom>
          <a:solidFill>
            <a:srgbClr val="FFFFFF"/>
          </a:solidFill>
          <a:ln w="12700">
            <a:solidFill>
              <a:srgbClr val="1E3AA0"/>
            </a:solidFill>
            <a:prstDash val="solid"/>
          </a:ln>
        </p:spPr>
      </p:sp>
      <p:sp>
        <p:nvSpPr>
          <p:cNvPr id="9" name="Shape 7"/>
          <p:cNvSpPr/>
          <p:nvPr/>
        </p:nvSpPr>
        <p:spPr>
          <a:xfrm>
            <a:off x="4343400" y="1554480"/>
            <a:ext cx="3657600" cy="457200"/>
          </a:xfrm>
          <a:prstGeom prst="rect">
            <a:avLst/>
          </a:prstGeom>
          <a:solidFill>
            <a:srgbClr val="1E3AA0"/>
          </a:solidFill>
          <a:ln/>
        </p:spPr>
      </p:sp>
      <p:sp>
        <p:nvSpPr>
          <p:cNvPr id="10" name="Text 8"/>
          <p:cNvSpPr/>
          <p:nvPr/>
        </p:nvSpPr>
        <p:spPr>
          <a:xfrm>
            <a:off x="4343400" y="1554480"/>
            <a:ext cx="3657600" cy="457200"/>
          </a:xfrm>
          <a:prstGeom prst="rect">
            <a:avLst/>
          </a:prstGeom>
          <a:noFill/>
          <a:ln/>
        </p:spPr>
        <p:txBody>
          <a:bodyPr wrap="square"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Manual Workflows</a:t>
            </a:r>
            <a:endParaRPr lang="en-US" sz="1500" dirty="0"/>
          </a:p>
        </p:txBody>
      </p:sp>
      <p:sp>
        <p:nvSpPr>
          <p:cNvPr id="11" name="Text 9"/>
          <p:cNvSpPr/>
          <p:nvPr/>
        </p:nvSpPr>
        <p:spPr>
          <a:xfrm>
            <a:off x="4526280" y="2103120"/>
            <a:ext cx="3291840" cy="1280160"/>
          </a:xfrm>
          <a:prstGeom prst="rect">
            <a:avLst/>
          </a:prstGeom>
          <a:noFill/>
          <a:ln/>
        </p:spPr>
        <p:txBody>
          <a:bodyPr wrap="square" rtlCol="0" anchor="ctr"/>
          <a:lstStyle/>
          <a:p>
            <a:pPr algn="ctr" indent="0" marL="0">
              <a:buNone/>
            </a:pPr>
            <a:r>
              <a:rPr lang="en-US" sz="1300" dirty="0">
                <a:solidFill>
                  <a:srgbClr val="1E293B"/>
                </a:solidFill>
                <a:latin typeface="Times New Roman" pitchFamily="34" charset="0"/>
                <a:ea typeface="Times New Roman" pitchFamily="34" charset="-122"/>
                <a:cs typeface="Times New Roman" pitchFamily="34" charset="-120"/>
              </a:rPr>
              <a:t>Roll call on paper, grade sheets filled by hand, transcripts typed on demand.</a:t>
            </a:r>
            <a:endParaRPr lang="en-US" sz="1300" dirty="0"/>
          </a:p>
        </p:txBody>
      </p:sp>
      <p:sp>
        <p:nvSpPr>
          <p:cNvPr id="12" name="Shape 10"/>
          <p:cNvSpPr/>
          <p:nvPr/>
        </p:nvSpPr>
        <p:spPr>
          <a:xfrm>
            <a:off x="8229600" y="1554480"/>
            <a:ext cx="3657600" cy="1920240"/>
          </a:xfrm>
          <a:prstGeom prst="roundRect">
            <a:avLst>
              <a:gd name="adj" fmla="val 4762"/>
            </a:avLst>
          </a:prstGeom>
          <a:solidFill>
            <a:srgbClr val="FFFFFF"/>
          </a:solidFill>
          <a:ln w="12700">
            <a:solidFill>
              <a:srgbClr val="1E3AA0"/>
            </a:solidFill>
            <a:prstDash val="solid"/>
          </a:ln>
        </p:spPr>
      </p:sp>
      <p:sp>
        <p:nvSpPr>
          <p:cNvPr id="13" name="Shape 11"/>
          <p:cNvSpPr/>
          <p:nvPr/>
        </p:nvSpPr>
        <p:spPr>
          <a:xfrm>
            <a:off x="8229600" y="1554480"/>
            <a:ext cx="3657600" cy="457200"/>
          </a:xfrm>
          <a:prstGeom prst="rect">
            <a:avLst/>
          </a:prstGeom>
          <a:solidFill>
            <a:srgbClr val="1E3AA0"/>
          </a:solidFill>
          <a:ln/>
        </p:spPr>
      </p:sp>
      <p:sp>
        <p:nvSpPr>
          <p:cNvPr id="14" name="Text 12"/>
          <p:cNvSpPr/>
          <p:nvPr/>
        </p:nvSpPr>
        <p:spPr>
          <a:xfrm>
            <a:off x="8229600" y="1554480"/>
            <a:ext cx="3657600" cy="457200"/>
          </a:xfrm>
          <a:prstGeom prst="rect">
            <a:avLst/>
          </a:prstGeom>
          <a:noFill/>
          <a:ln/>
        </p:spPr>
        <p:txBody>
          <a:bodyPr wrap="square"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Limited Visibility</a:t>
            </a:r>
            <a:endParaRPr lang="en-US" sz="1500" dirty="0"/>
          </a:p>
        </p:txBody>
      </p:sp>
      <p:sp>
        <p:nvSpPr>
          <p:cNvPr id="15" name="Text 13"/>
          <p:cNvSpPr/>
          <p:nvPr/>
        </p:nvSpPr>
        <p:spPr>
          <a:xfrm>
            <a:off x="8412480" y="2103120"/>
            <a:ext cx="3291840" cy="1280160"/>
          </a:xfrm>
          <a:prstGeom prst="rect">
            <a:avLst/>
          </a:prstGeom>
          <a:noFill/>
          <a:ln/>
        </p:spPr>
        <p:txBody>
          <a:bodyPr wrap="square" rtlCol="0" anchor="ctr"/>
          <a:lstStyle/>
          <a:p>
            <a:pPr algn="ctr" indent="0" marL="0">
              <a:buNone/>
            </a:pPr>
            <a:r>
              <a:rPr lang="en-US" sz="1300" dirty="0">
                <a:solidFill>
                  <a:srgbClr val="1E293B"/>
                </a:solidFill>
                <a:latin typeface="Times New Roman" pitchFamily="34" charset="0"/>
                <a:ea typeface="Times New Roman" pitchFamily="34" charset="-122"/>
                <a:cs typeface="Times New Roman" pitchFamily="34" charset="-120"/>
              </a:rPr>
              <a:t>Leadership has no live view of attendance, tuition collection or at risk cohorts.</a:t>
            </a:r>
            <a:endParaRPr lang="en-US" sz="1300" dirty="0"/>
          </a:p>
        </p:txBody>
      </p:sp>
      <p:sp>
        <p:nvSpPr>
          <p:cNvPr id="16" name="Shape 14"/>
          <p:cNvSpPr/>
          <p:nvPr/>
        </p:nvSpPr>
        <p:spPr>
          <a:xfrm>
            <a:off x="457200" y="3749040"/>
            <a:ext cx="3657600" cy="1920240"/>
          </a:xfrm>
          <a:prstGeom prst="roundRect">
            <a:avLst>
              <a:gd name="adj" fmla="val 4762"/>
            </a:avLst>
          </a:prstGeom>
          <a:solidFill>
            <a:srgbClr val="FFFFFF"/>
          </a:solidFill>
          <a:ln w="12700">
            <a:solidFill>
              <a:srgbClr val="1E3AA0"/>
            </a:solidFill>
            <a:prstDash val="solid"/>
          </a:ln>
        </p:spPr>
      </p:sp>
      <p:sp>
        <p:nvSpPr>
          <p:cNvPr id="17" name="Shape 15"/>
          <p:cNvSpPr/>
          <p:nvPr/>
        </p:nvSpPr>
        <p:spPr>
          <a:xfrm>
            <a:off x="457200" y="3749040"/>
            <a:ext cx="3657600" cy="457200"/>
          </a:xfrm>
          <a:prstGeom prst="rect">
            <a:avLst/>
          </a:prstGeom>
          <a:solidFill>
            <a:srgbClr val="1E3AA0"/>
          </a:solidFill>
          <a:ln/>
        </p:spPr>
      </p:sp>
      <p:sp>
        <p:nvSpPr>
          <p:cNvPr id="18" name="Text 16"/>
          <p:cNvSpPr/>
          <p:nvPr/>
        </p:nvSpPr>
        <p:spPr>
          <a:xfrm>
            <a:off x="457200" y="3749040"/>
            <a:ext cx="3657600" cy="457200"/>
          </a:xfrm>
          <a:prstGeom prst="rect">
            <a:avLst/>
          </a:prstGeom>
          <a:noFill/>
          <a:ln/>
        </p:spPr>
        <p:txBody>
          <a:bodyPr wrap="square"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Connectivity Constraints</a:t>
            </a:r>
            <a:endParaRPr lang="en-US" sz="1500" dirty="0"/>
          </a:p>
        </p:txBody>
      </p:sp>
      <p:sp>
        <p:nvSpPr>
          <p:cNvPr id="19" name="Text 17"/>
          <p:cNvSpPr/>
          <p:nvPr/>
        </p:nvSpPr>
        <p:spPr>
          <a:xfrm>
            <a:off x="640080" y="4297680"/>
            <a:ext cx="3291840" cy="1280160"/>
          </a:xfrm>
          <a:prstGeom prst="rect">
            <a:avLst/>
          </a:prstGeom>
          <a:noFill/>
          <a:ln/>
        </p:spPr>
        <p:txBody>
          <a:bodyPr wrap="square" rtlCol="0" anchor="ctr"/>
          <a:lstStyle/>
          <a:p>
            <a:pPr algn="ctr" indent="0" marL="0">
              <a:buNone/>
            </a:pPr>
            <a:r>
              <a:rPr lang="en-US" sz="1300" dirty="0">
                <a:solidFill>
                  <a:srgbClr val="1E293B"/>
                </a:solidFill>
                <a:latin typeface="Times New Roman" pitchFamily="34" charset="0"/>
                <a:ea typeface="Times New Roman" pitchFamily="34" charset="-122"/>
                <a:cs typeface="Times New Roman" pitchFamily="34" charset="-120"/>
              </a:rPr>
              <a:t>Students in areas with intermittent internet lose access to always online platforms.</a:t>
            </a:r>
            <a:endParaRPr lang="en-US" sz="1300" dirty="0"/>
          </a:p>
        </p:txBody>
      </p:sp>
      <p:sp>
        <p:nvSpPr>
          <p:cNvPr id="20" name="Shape 18"/>
          <p:cNvSpPr/>
          <p:nvPr/>
        </p:nvSpPr>
        <p:spPr>
          <a:xfrm>
            <a:off x="4343400" y="3749040"/>
            <a:ext cx="3657600" cy="1920240"/>
          </a:xfrm>
          <a:prstGeom prst="roundRect">
            <a:avLst>
              <a:gd name="adj" fmla="val 4762"/>
            </a:avLst>
          </a:prstGeom>
          <a:solidFill>
            <a:srgbClr val="FFFFFF"/>
          </a:solidFill>
          <a:ln w="12700">
            <a:solidFill>
              <a:srgbClr val="1E3AA0"/>
            </a:solidFill>
            <a:prstDash val="solid"/>
          </a:ln>
        </p:spPr>
      </p:sp>
      <p:sp>
        <p:nvSpPr>
          <p:cNvPr id="21" name="Shape 19"/>
          <p:cNvSpPr/>
          <p:nvPr/>
        </p:nvSpPr>
        <p:spPr>
          <a:xfrm>
            <a:off x="4343400" y="3749040"/>
            <a:ext cx="3657600" cy="457200"/>
          </a:xfrm>
          <a:prstGeom prst="rect">
            <a:avLst/>
          </a:prstGeom>
          <a:solidFill>
            <a:srgbClr val="1E3AA0"/>
          </a:solidFill>
          <a:ln/>
        </p:spPr>
      </p:sp>
      <p:sp>
        <p:nvSpPr>
          <p:cNvPr id="22" name="Text 20"/>
          <p:cNvSpPr/>
          <p:nvPr/>
        </p:nvSpPr>
        <p:spPr>
          <a:xfrm>
            <a:off x="4343400" y="3749040"/>
            <a:ext cx="3657600" cy="457200"/>
          </a:xfrm>
          <a:prstGeom prst="rect">
            <a:avLst/>
          </a:prstGeom>
          <a:noFill/>
          <a:ln/>
        </p:spPr>
        <p:txBody>
          <a:bodyPr wrap="square"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Slow Enrolment</a:t>
            </a:r>
            <a:endParaRPr lang="en-US" sz="1500" dirty="0"/>
          </a:p>
        </p:txBody>
      </p:sp>
      <p:sp>
        <p:nvSpPr>
          <p:cNvPr id="23" name="Text 21"/>
          <p:cNvSpPr/>
          <p:nvPr/>
        </p:nvSpPr>
        <p:spPr>
          <a:xfrm>
            <a:off x="4526280" y="4297680"/>
            <a:ext cx="3291840" cy="1280160"/>
          </a:xfrm>
          <a:prstGeom prst="rect">
            <a:avLst/>
          </a:prstGeom>
          <a:noFill/>
          <a:ln/>
        </p:spPr>
        <p:txBody>
          <a:bodyPr wrap="square" rtlCol="0" anchor="ctr"/>
          <a:lstStyle/>
          <a:p>
            <a:pPr algn="ctr" indent="0" marL="0">
              <a:buNone/>
            </a:pPr>
            <a:r>
              <a:rPr lang="en-US" sz="1300" dirty="0">
                <a:solidFill>
                  <a:srgbClr val="1E293B"/>
                </a:solidFill>
                <a:latin typeface="Times New Roman" pitchFamily="34" charset="0"/>
                <a:ea typeface="Times New Roman" pitchFamily="34" charset="-122"/>
                <a:cs typeface="Times New Roman" pitchFamily="34" charset="-120"/>
              </a:rPr>
              <a:t>Parents queue at the bursary for hours to complete paper based registration.</a:t>
            </a:r>
            <a:endParaRPr lang="en-US" sz="1300" dirty="0"/>
          </a:p>
        </p:txBody>
      </p:sp>
      <p:sp>
        <p:nvSpPr>
          <p:cNvPr id="24" name="Shape 22"/>
          <p:cNvSpPr/>
          <p:nvPr/>
        </p:nvSpPr>
        <p:spPr>
          <a:xfrm>
            <a:off x="8229600" y="3749040"/>
            <a:ext cx="3657600" cy="1920240"/>
          </a:xfrm>
          <a:prstGeom prst="roundRect">
            <a:avLst>
              <a:gd name="adj" fmla="val 4762"/>
            </a:avLst>
          </a:prstGeom>
          <a:solidFill>
            <a:srgbClr val="FFFFFF"/>
          </a:solidFill>
          <a:ln w="12700">
            <a:solidFill>
              <a:srgbClr val="1E3AA0"/>
            </a:solidFill>
            <a:prstDash val="solid"/>
          </a:ln>
        </p:spPr>
      </p:sp>
      <p:sp>
        <p:nvSpPr>
          <p:cNvPr id="25" name="Shape 23"/>
          <p:cNvSpPr/>
          <p:nvPr/>
        </p:nvSpPr>
        <p:spPr>
          <a:xfrm>
            <a:off x="8229600" y="3749040"/>
            <a:ext cx="3657600" cy="457200"/>
          </a:xfrm>
          <a:prstGeom prst="rect">
            <a:avLst/>
          </a:prstGeom>
          <a:solidFill>
            <a:srgbClr val="1E3AA0"/>
          </a:solidFill>
          <a:ln/>
        </p:spPr>
      </p:sp>
      <p:sp>
        <p:nvSpPr>
          <p:cNvPr id="26" name="Text 24"/>
          <p:cNvSpPr/>
          <p:nvPr/>
        </p:nvSpPr>
        <p:spPr>
          <a:xfrm>
            <a:off x="8229600" y="3749040"/>
            <a:ext cx="3657600" cy="457200"/>
          </a:xfrm>
          <a:prstGeom prst="rect">
            <a:avLst/>
          </a:prstGeom>
          <a:noFill/>
          <a:ln/>
        </p:spPr>
        <p:txBody>
          <a:bodyPr wrap="square"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Fraud Vulnerable</a:t>
            </a:r>
            <a:endParaRPr lang="en-US" sz="1500" dirty="0"/>
          </a:p>
        </p:txBody>
      </p:sp>
      <p:sp>
        <p:nvSpPr>
          <p:cNvPr id="27" name="Text 25"/>
          <p:cNvSpPr/>
          <p:nvPr/>
        </p:nvSpPr>
        <p:spPr>
          <a:xfrm>
            <a:off x="8412480" y="4297680"/>
            <a:ext cx="3291840" cy="1280160"/>
          </a:xfrm>
          <a:prstGeom prst="rect">
            <a:avLst/>
          </a:prstGeom>
          <a:noFill/>
          <a:ln/>
        </p:spPr>
        <p:txBody>
          <a:bodyPr wrap="square" rtlCol="0" anchor="ctr"/>
          <a:lstStyle/>
          <a:p>
            <a:pPr algn="ctr" indent="0" marL="0">
              <a:buNone/>
            </a:pPr>
            <a:r>
              <a:rPr lang="en-US" sz="1300" dirty="0">
                <a:solidFill>
                  <a:srgbClr val="1E293B"/>
                </a:solidFill>
                <a:latin typeface="Times New Roman" pitchFamily="34" charset="0"/>
                <a:ea typeface="Times New Roman" pitchFamily="34" charset="-122"/>
                <a:cs typeface="Times New Roman" pitchFamily="34" charset="-120"/>
              </a:rPr>
              <a:t>Hand stamped paper receipts and transcripts are easily copied and forged.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indent="0" marL="0">
              <a:buNone/>
            </a:pPr>
            <a:r>
              <a:rPr lang="en-US" sz="3200" b="1" dirty="0">
                <a:solidFill>
                  <a:srgbClr val="1E3AA0"/>
                </a:solidFill>
                <a:latin typeface="Times New Roman" pitchFamily="34" charset="0"/>
                <a:ea typeface="Times New Roman" pitchFamily="34" charset="-122"/>
                <a:cs typeface="Times New Roman" pitchFamily="34" charset="-120"/>
              </a:rPr>
              <a:t>Objective of the Study and Problem Statement</a:t>
            </a:r>
            <a:endParaRPr lang="en-US" sz="3200" dirty="0"/>
          </a:p>
        </p:txBody>
      </p:sp>
      <p:sp>
        <p:nvSpPr>
          <p:cNvPr id="3" name="Text 1"/>
          <p:cNvSpPr/>
          <p:nvPr/>
        </p:nvSpPr>
        <p:spPr>
          <a:xfrm>
            <a:off x="457200" y="960120"/>
            <a:ext cx="11247120" cy="365760"/>
          </a:xfrm>
          <a:prstGeom prst="rect">
            <a:avLst/>
          </a:prstGeom>
          <a:noFill/>
          <a:ln/>
        </p:spPr>
        <p:txBody>
          <a:bodyPr wrap="square" rtlCol="0" anchor="ctr"/>
          <a:lstStyle/>
          <a:p>
            <a:pPr indent="0" marL="0">
              <a:buNone/>
            </a:pPr>
            <a:r>
              <a:rPr lang="en-US" sz="1500" i="1" dirty="0">
                <a:solidFill>
                  <a:srgbClr val="E63946"/>
                </a:solidFill>
                <a:latin typeface="Times New Roman" pitchFamily="34" charset="0"/>
                <a:ea typeface="Times New Roman" pitchFamily="34" charset="-122"/>
                <a:cs typeface="Times New Roman" pitchFamily="34" charset="-120"/>
              </a:rPr>
              <a:t>Six problems, one platform</a:t>
            </a:r>
            <a:endParaRPr lang="en-US" sz="1500" dirty="0"/>
          </a:p>
        </p:txBody>
      </p:sp>
      <p:sp>
        <p:nvSpPr>
          <p:cNvPr id="4" name="Shape 2"/>
          <p:cNvSpPr/>
          <p:nvPr/>
        </p:nvSpPr>
        <p:spPr>
          <a:xfrm>
            <a:off x="457200" y="1554480"/>
            <a:ext cx="11247120" cy="1188720"/>
          </a:xfrm>
          <a:prstGeom prst="roundRect">
            <a:avLst>
              <a:gd name="adj" fmla="val 9231"/>
            </a:avLst>
          </a:prstGeom>
          <a:solidFill>
            <a:srgbClr val="E63946"/>
          </a:solidFill>
          <a:ln/>
        </p:spPr>
      </p:sp>
      <p:sp>
        <p:nvSpPr>
          <p:cNvPr id="5" name="Text 3"/>
          <p:cNvSpPr/>
          <p:nvPr/>
        </p:nvSpPr>
        <p:spPr>
          <a:xfrm>
            <a:off x="457200" y="1600200"/>
            <a:ext cx="11247120" cy="365760"/>
          </a:xfrm>
          <a:prstGeom prst="rect">
            <a:avLst/>
          </a:prstGeom>
          <a:noFill/>
          <a:ln/>
        </p:spPr>
        <p:txBody>
          <a:bodyPr wrap="square"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PROBLEM STATEMENT</a:t>
            </a:r>
            <a:endParaRPr lang="en-US" sz="1600" dirty="0"/>
          </a:p>
        </p:txBody>
      </p:sp>
      <p:sp>
        <p:nvSpPr>
          <p:cNvPr id="6" name="Text 4"/>
          <p:cNvSpPr/>
          <p:nvPr/>
        </p:nvSpPr>
        <p:spPr>
          <a:xfrm>
            <a:off x="640080" y="2011680"/>
            <a:ext cx="10881360" cy="640080"/>
          </a:xfrm>
          <a:prstGeom prst="rect">
            <a:avLst/>
          </a:prstGeom>
          <a:noFill/>
          <a:ln/>
        </p:spPr>
        <p:txBody>
          <a:bodyPr wrap="square" rtlCol="0" anchor="ctr"/>
          <a:lstStyle/>
          <a:p>
            <a:pPr algn="ctr" indent="0" marL="0">
              <a:buNone/>
            </a:pPr>
            <a:r>
              <a:rPr lang="en-US" sz="1400" dirty="0">
                <a:solidFill>
                  <a:srgbClr val="FFFFFF"/>
                </a:solidFill>
                <a:latin typeface="Times New Roman" pitchFamily="34" charset="0"/>
                <a:ea typeface="Times New Roman" pitchFamily="34" charset="-122"/>
                <a:cs typeface="Times New Roman" pitchFamily="34" charset="-120"/>
              </a:rPr>
              <a:t>IUGET Bonaberi lacks a unified digital platform for its core academic operations. The current fragmented approach using paper, spreadsheets, and informal messaging groups creates inefficiencies for students, lecturers, staff, and parents.</a:t>
            </a:r>
            <a:endParaRPr lang="en-US" sz="1400" dirty="0"/>
          </a:p>
        </p:txBody>
      </p:sp>
      <p:sp>
        <p:nvSpPr>
          <p:cNvPr id="7" name="Shape 5"/>
          <p:cNvSpPr/>
          <p:nvPr/>
        </p:nvSpPr>
        <p:spPr>
          <a:xfrm>
            <a:off x="457200" y="3017520"/>
            <a:ext cx="11247120" cy="1188720"/>
          </a:xfrm>
          <a:prstGeom prst="roundRect">
            <a:avLst>
              <a:gd name="adj" fmla="val 9231"/>
            </a:avLst>
          </a:prstGeom>
          <a:solidFill>
            <a:srgbClr val="1E3AA0"/>
          </a:solidFill>
          <a:ln/>
        </p:spPr>
      </p:sp>
      <p:sp>
        <p:nvSpPr>
          <p:cNvPr id="8" name="Text 6"/>
          <p:cNvSpPr/>
          <p:nvPr/>
        </p:nvSpPr>
        <p:spPr>
          <a:xfrm>
            <a:off x="457200" y="3063240"/>
            <a:ext cx="11247120" cy="365760"/>
          </a:xfrm>
          <a:prstGeom prst="rect">
            <a:avLst/>
          </a:prstGeom>
          <a:noFill/>
          <a:ln/>
        </p:spPr>
        <p:txBody>
          <a:bodyPr wrap="square"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GENERAL OBJECTIVE</a:t>
            </a:r>
            <a:endParaRPr lang="en-US" sz="1600" dirty="0"/>
          </a:p>
        </p:txBody>
      </p:sp>
      <p:sp>
        <p:nvSpPr>
          <p:cNvPr id="9" name="Text 7"/>
          <p:cNvSpPr/>
          <p:nvPr/>
        </p:nvSpPr>
        <p:spPr>
          <a:xfrm>
            <a:off x="640080" y="3474720"/>
            <a:ext cx="10881360" cy="640080"/>
          </a:xfrm>
          <a:prstGeom prst="rect">
            <a:avLst/>
          </a:prstGeom>
          <a:noFill/>
          <a:ln/>
        </p:spPr>
        <p:txBody>
          <a:bodyPr wrap="square" rtlCol="0" anchor="ctr"/>
          <a:lstStyle/>
          <a:p>
            <a:pPr algn="ctr" indent="0" marL="0">
              <a:buNone/>
            </a:pPr>
            <a:r>
              <a:rPr lang="en-US" sz="1400" dirty="0">
                <a:solidFill>
                  <a:srgbClr val="FFFFFF"/>
                </a:solidFill>
                <a:latin typeface="Times New Roman" pitchFamily="34" charset="0"/>
                <a:ea typeface="Times New Roman" pitchFamily="34" charset="-122"/>
                <a:cs typeface="Times New Roman" pitchFamily="34" charset="-120"/>
              </a:rPr>
              <a:t>To design, implement and document a unified web platform that automates the core administrative and pedagogical operations of a private university, using IUGET Bonaberi as the reference deployment.</a:t>
            </a:r>
            <a:endParaRPr lang="en-US" sz="1400" dirty="0"/>
          </a:p>
        </p:txBody>
      </p:sp>
      <p:sp>
        <p:nvSpPr>
          <p:cNvPr id="10" name="Shape 8"/>
          <p:cNvSpPr/>
          <p:nvPr/>
        </p:nvSpPr>
        <p:spPr>
          <a:xfrm>
            <a:off x="731520" y="4526280"/>
            <a:ext cx="274320" cy="274320"/>
          </a:xfrm>
          <a:prstGeom prst="ellipse">
            <a:avLst/>
          </a:prstGeom>
          <a:solidFill>
            <a:srgbClr val="10B981"/>
          </a:solidFill>
          <a:ln/>
        </p:spPr>
      </p:sp>
      <p:sp>
        <p:nvSpPr>
          <p:cNvPr id="11" name="Text 9"/>
          <p:cNvSpPr/>
          <p:nvPr/>
        </p:nvSpPr>
        <p:spPr>
          <a:xfrm>
            <a:off x="1188720" y="4480560"/>
            <a:ext cx="10515600" cy="365760"/>
          </a:xfrm>
          <a:prstGeom prst="rect">
            <a:avLst/>
          </a:prstGeom>
          <a:noFill/>
          <a:ln/>
        </p:spPr>
        <p:txBody>
          <a:bodyPr wrap="square" rtlCol="0" anchor="ctr"/>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Analyse current workflows and identify digitalisation opportunities</a:t>
            </a:r>
            <a:endParaRPr lang="en-US" sz="1300" dirty="0"/>
          </a:p>
        </p:txBody>
      </p:sp>
      <p:sp>
        <p:nvSpPr>
          <p:cNvPr id="12" name="Shape 10"/>
          <p:cNvSpPr/>
          <p:nvPr/>
        </p:nvSpPr>
        <p:spPr>
          <a:xfrm>
            <a:off x="731520" y="4937760"/>
            <a:ext cx="274320" cy="274320"/>
          </a:xfrm>
          <a:prstGeom prst="ellipse">
            <a:avLst/>
          </a:prstGeom>
          <a:solidFill>
            <a:srgbClr val="10B981"/>
          </a:solidFill>
          <a:ln/>
        </p:spPr>
      </p:sp>
      <p:sp>
        <p:nvSpPr>
          <p:cNvPr id="13" name="Text 11"/>
          <p:cNvSpPr/>
          <p:nvPr/>
        </p:nvSpPr>
        <p:spPr>
          <a:xfrm>
            <a:off x="1188720" y="4892040"/>
            <a:ext cx="10515600" cy="365760"/>
          </a:xfrm>
          <a:prstGeom prst="rect">
            <a:avLst/>
          </a:prstGeom>
          <a:noFill/>
          <a:ln/>
        </p:spPr>
        <p:txBody>
          <a:bodyPr wrap="square" rtlCol="0" anchor="ctr"/>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Design a role aware information architecture for five stakeholder categories</a:t>
            </a:r>
            <a:endParaRPr lang="en-US" sz="1300" dirty="0"/>
          </a:p>
        </p:txBody>
      </p:sp>
      <p:sp>
        <p:nvSpPr>
          <p:cNvPr id="14" name="Shape 12"/>
          <p:cNvSpPr/>
          <p:nvPr/>
        </p:nvSpPr>
        <p:spPr>
          <a:xfrm>
            <a:off x="731520" y="5349240"/>
            <a:ext cx="274320" cy="274320"/>
          </a:xfrm>
          <a:prstGeom prst="ellipse">
            <a:avLst/>
          </a:prstGeom>
          <a:solidFill>
            <a:srgbClr val="10B981"/>
          </a:solidFill>
          <a:ln/>
        </p:spPr>
      </p:sp>
      <p:sp>
        <p:nvSpPr>
          <p:cNvPr id="15" name="Text 13"/>
          <p:cNvSpPr/>
          <p:nvPr/>
        </p:nvSpPr>
        <p:spPr>
          <a:xfrm>
            <a:off x="1188720" y="5303520"/>
            <a:ext cx="10515600" cy="365760"/>
          </a:xfrm>
          <a:prstGeom prst="rect">
            <a:avLst/>
          </a:prstGeom>
          <a:noFill/>
          <a:ln/>
        </p:spPr>
        <p:txBody>
          <a:bodyPr wrap="square" rtlCol="0" anchor="ctr"/>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Implement a working platform with attendance, timetable, results, and financial tracking</a:t>
            </a:r>
            <a:endParaRPr lang="en-US" sz="1300" dirty="0"/>
          </a:p>
        </p:txBody>
      </p:sp>
      <p:sp>
        <p:nvSpPr>
          <p:cNvPr id="16" name="Shape 14"/>
          <p:cNvSpPr/>
          <p:nvPr/>
        </p:nvSpPr>
        <p:spPr>
          <a:xfrm>
            <a:off x="731520" y="5760720"/>
            <a:ext cx="274320" cy="274320"/>
          </a:xfrm>
          <a:prstGeom prst="ellipse">
            <a:avLst/>
          </a:prstGeom>
          <a:solidFill>
            <a:srgbClr val="10B981"/>
          </a:solidFill>
          <a:ln/>
        </p:spPr>
      </p:sp>
      <p:sp>
        <p:nvSpPr>
          <p:cNvPr id="17" name="Text 15"/>
          <p:cNvSpPr/>
          <p:nvPr/>
        </p:nvSpPr>
        <p:spPr>
          <a:xfrm>
            <a:off x="1188720" y="5715000"/>
            <a:ext cx="10515600" cy="365760"/>
          </a:xfrm>
          <a:prstGeom prst="rect">
            <a:avLst/>
          </a:prstGeom>
          <a:noFill/>
          <a:ln/>
        </p:spPr>
        <p:txBody>
          <a:bodyPr wrap="square" rtlCol="0" anchor="ctr"/>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Simulate five channel tuition payment without persisting credentials</a:t>
            </a:r>
            <a:endParaRPr lang="en-US" sz="1300" dirty="0"/>
          </a:p>
        </p:txBody>
      </p:sp>
      <p:sp>
        <p:nvSpPr>
          <p:cNvPr id="18" name="Shape 16"/>
          <p:cNvSpPr/>
          <p:nvPr/>
        </p:nvSpPr>
        <p:spPr>
          <a:xfrm>
            <a:off x="731520" y="6172200"/>
            <a:ext cx="274320" cy="274320"/>
          </a:xfrm>
          <a:prstGeom prst="ellipse">
            <a:avLst/>
          </a:prstGeom>
          <a:solidFill>
            <a:srgbClr val="10B981"/>
          </a:solidFill>
          <a:ln/>
        </p:spPr>
      </p:sp>
      <p:sp>
        <p:nvSpPr>
          <p:cNvPr id="19" name="Text 17"/>
          <p:cNvSpPr/>
          <p:nvPr/>
        </p:nvSpPr>
        <p:spPr>
          <a:xfrm>
            <a:off x="1188720" y="6126480"/>
            <a:ext cx="10515600" cy="365760"/>
          </a:xfrm>
          <a:prstGeom prst="rect">
            <a:avLst/>
          </a:prstGeom>
          <a:noFill/>
          <a:ln/>
        </p:spPr>
        <p:txBody>
          <a:bodyPr wrap="square" rtlCol="0" anchor="ctr"/>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Automate student enrolment with QR verifiable academic artefacts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indent="0" marL="0">
              <a:buNone/>
            </a:pPr>
            <a:r>
              <a:rPr lang="en-US" sz="3200" b="1" dirty="0">
                <a:solidFill>
                  <a:srgbClr val="1E3AA0"/>
                </a:solidFill>
                <a:latin typeface="Times New Roman" pitchFamily="34" charset="0"/>
                <a:ea typeface="Times New Roman" pitchFamily="34" charset="-122"/>
                <a:cs typeface="Times New Roman" pitchFamily="34" charset="-120"/>
              </a:rPr>
              <a:t>Literature Review</a:t>
            </a:r>
            <a:endParaRPr lang="en-US" sz="3200" dirty="0"/>
          </a:p>
        </p:txBody>
      </p:sp>
      <p:sp>
        <p:nvSpPr>
          <p:cNvPr id="3" name="Text 1"/>
          <p:cNvSpPr/>
          <p:nvPr/>
        </p:nvSpPr>
        <p:spPr>
          <a:xfrm>
            <a:off x="457200" y="960120"/>
            <a:ext cx="11247120" cy="365760"/>
          </a:xfrm>
          <a:prstGeom prst="rect">
            <a:avLst/>
          </a:prstGeom>
          <a:noFill/>
          <a:ln/>
        </p:spPr>
        <p:txBody>
          <a:bodyPr wrap="square" rtlCol="0" anchor="ctr"/>
          <a:lstStyle/>
          <a:p>
            <a:pPr indent="0" marL="0">
              <a:buNone/>
            </a:pPr>
            <a:r>
              <a:rPr lang="en-US" sz="1500" i="1" dirty="0">
                <a:solidFill>
                  <a:srgbClr val="E63946"/>
                </a:solidFill>
                <a:latin typeface="Times New Roman" pitchFamily="34" charset="0"/>
                <a:ea typeface="Times New Roman" pitchFamily="34" charset="-122"/>
                <a:cs typeface="Times New Roman" pitchFamily="34" charset="-120"/>
              </a:rPr>
              <a:t>Recent academic and industry sources (2020 and above)</a:t>
            </a:r>
            <a:endParaRPr lang="en-US" sz="1500" dirty="0"/>
          </a:p>
        </p:txBody>
      </p:sp>
      <p:sp>
        <p:nvSpPr>
          <p:cNvPr id="4" name="Shape 2"/>
          <p:cNvSpPr/>
          <p:nvPr/>
        </p:nvSpPr>
        <p:spPr>
          <a:xfrm>
            <a:off x="457200" y="1554480"/>
            <a:ext cx="11247120" cy="502920"/>
          </a:xfrm>
          <a:prstGeom prst="roundRect">
            <a:avLst>
              <a:gd name="adj" fmla="val 14545"/>
            </a:avLst>
          </a:prstGeom>
          <a:solidFill>
            <a:srgbClr val="1E3AA0"/>
          </a:solidFill>
          <a:ln/>
        </p:spPr>
      </p:sp>
      <p:sp>
        <p:nvSpPr>
          <p:cNvPr id="5" name="Text 3"/>
          <p:cNvSpPr/>
          <p:nvPr/>
        </p:nvSpPr>
        <p:spPr>
          <a:xfrm>
            <a:off x="457200" y="1554480"/>
            <a:ext cx="11247120" cy="502920"/>
          </a:xfrm>
          <a:prstGeom prst="rect">
            <a:avLst/>
          </a:prstGeom>
          <a:no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Two Recent Studies Relevant to SIARM</a:t>
            </a:r>
            <a:endParaRPr lang="en-US" sz="1800" dirty="0"/>
          </a:p>
        </p:txBody>
      </p:sp>
      <p:sp>
        <p:nvSpPr>
          <p:cNvPr id="6" name="Shape 4"/>
          <p:cNvSpPr/>
          <p:nvPr/>
        </p:nvSpPr>
        <p:spPr>
          <a:xfrm>
            <a:off x="457200" y="2286000"/>
            <a:ext cx="5394960" cy="3474720"/>
          </a:xfrm>
          <a:prstGeom prst="roundRect">
            <a:avLst>
              <a:gd name="adj" fmla="val 3158"/>
            </a:avLst>
          </a:prstGeom>
          <a:solidFill>
            <a:srgbClr val="FFFFFF"/>
          </a:solidFill>
          <a:ln w="19050">
            <a:solidFill>
              <a:srgbClr val="1E3AA0"/>
            </a:solidFill>
            <a:prstDash val="solid"/>
          </a:ln>
        </p:spPr>
      </p:sp>
      <p:sp>
        <p:nvSpPr>
          <p:cNvPr id="7" name="Shape 5"/>
          <p:cNvSpPr/>
          <p:nvPr/>
        </p:nvSpPr>
        <p:spPr>
          <a:xfrm>
            <a:off x="457200" y="2286000"/>
            <a:ext cx="5394960" cy="548640"/>
          </a:xfrm>
          <a:prstGeom prst="rect">
            <a:avLst/>
          </a:prstGeom>
          <a:solidFill>
            <a:srgbClr val="1E3AA0"/>
          </a:solidFill>
          <a:ln/>
        </p:spPr>
      </p:sp>
      <p:sp>
        <p:nvSpPr>
          <p:cNvPr id="8" name="Text 6"/>
          <p:cNvSpPr/>
          <p:nvPr/>
        </p:nvSpPr>
        <p:spPr>
          <a:xfrm>
            <a:off x="457200" y="2286000"/>
            <a:ext cx="5394960" cy="548640"/>
          </a:xfrm>
          <a:prstGeom prst="rect">
            <a:avLst/>
          </a:prstGeom>
          <a:noFill/>
          <a:ln/>
        </p:spPr>
        <p:txBody>
          <a:bodyPr wrap="square"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Chen and Wang (2021)</a:t>
            </a:r>
            <a:endParaRPr lang="en-US" sz="1600" dirty="0"/>
          </a:p>
        </p:txBody>
      </p:sp>
      <p:sp>
        <p:nvSpPr>
          <p:cNvPr id="9" name="Text 7"/>
          <p:cNvSpPr/>
          <p:nvPr/>
        </p:nvSpPr>
        <p:spPr>
          <a:xfrm>
            <a:off x="640080" y="2926080"/>
            <a:ext cx="5029200" cy="457200"/>
          </a:xfrm>
          <a:prstGeom prst="rect">
            <a:avLst/>
          </a:prstGeom>
          <a:noFill/>
          <a:ln/>
        </p:spPr>
        <p:txBody>
          <a:bodyPr wrap="square" rtlCol="0" anchor="ctr"/>
          <a:lstStyle/>
          <a:p>
            <a:pPr algn="ctr" indent="0" marL="0">
              <a:buNone/>
            </a:pPr>
            <a:r>
              <a:rPr lang="en-US" sz="1200" i="1" dirty="0">
                <a:solidFill>
                  <a:srgbClr val="E63946"/>
                </a:solidFill>
                <a:latin typeface="Times New Roman" pitchFamily="34" charset="0"/>
                <a:ea typeface="Times New Roman" pitchFamily="34" charset="-122"/>
                <a:cs typeface="Times New Roman" pitchFamily="34" charset="-120"/>
              </a:rPr>
              <a:t>"Cloud Based Student Information Systems for Higher Education in Developing Countries"</a:t>
            </a:r>
            <a:endParaRPr lang="en-US" sz="1200" dirty="0"/>
          </a:p>
        </p:txBody>
      </p:sp>
      <p:sp>
        <p:nvSpPr>
          <p:cNvPr id="10" name="Text 8"/>
          <p:cNvSpPr/>
          <p:nvPr/>
        </p:nvSpPr>
        <p:spPr>
          <a:xfrm>
            <a:off x="640080" y="3383280"/>
            <a:ext cx="5029200" cy="365760"/>
          </a:xfrm>
          <a:prstGeom prst="rect">
            <a:avLst/>
          </a:prstGeom>
          <a:noFill/>
          <a:ln/>
        </p:spPr>
        <p:txBody>
          <a:bodyPr wrap="square" rtlCol="0" anchor="ctr"/>
          <a:lstStyle/>
          <a:p>
            <a:pPr algn="ctr" indent="0" marL="0">
              <a:buNone/>
            </a:pPr>
            <a:r>
              <a:rPr lang="en-US" sz="1100" dirty="0">
                <a:solidFill>
                  <a:srgbClr val="64748B"/>
                </a:solidFill>
                <a:latin typeface="Times New Roman" pitchFamily="34" charset="0"/>
                <a:ea typeface="Times New Roman" pitchFamily="34" charset="-122"/>
                <a:cs typeface="Times New Roman" pitchFamily="34" charset="-120"/>
              </a:rPr>
              <a:t>Journal of Educational Technology Systems, 49(3), 312 329</a:t>
            </a:r>
            <a:endParaRPr lang="en-US" sz="1100" dirty="0"/>
          </a:p>
        </p:txBody>
      </p:sp>
      <p:sp>
        <p:nvSpPr>
          <p:cNvPr id="11" name="Text 9"/>
          <p:cNvSpPr/>
          <p:nvPr/>
        </p:nvSpPr>
        <p:spPr>
          <a:xfrm>
            <a:off x="640080" y="3840480"/>
            <a:ext cx="5029200" cy="1828800"/>
          </a:xfrm>
          <a:prstGeom prst="rect">
            <a:avLst/>
          </a:prstGeom>
          <a:noFill/>
          <a:ln/>
        </p:spPr>
        <p:txBody>
          <a:bodyPr wrap="square" rtlCol="0" anchor="t"/>
          <a:lstStyle/>
          <a:p>
            <a:pPr algn="ctr" indent="0" marL="0">
              <a:buNone/>
            </a:pPr>
            <a:r>
              <a:rPr lang="en-US" sz="1200" dirty="0">
                <a:solidFill>
                  <a:srgbClr val="1E293B"/>
                </a:solidFill>
                <a:latin typeface="Times New Roman" pitchFamily="34" charset="0"/>
                <a:ea typeface="Times New Roman" pitchFamily="34" charset="-122"/>
                <a:cs typeface="Times New Roman" pitchFamily="34" charset="-120"/>
              </a:rPr>
              <a:t>This study examined the adoption of cloud based student information systems across 12 universities in Sub Saharan Africa. The authors found that institutions using cloud SIS platforms reported 40 percent faster enrolment processing and 60 percent reduction in manual data entry errors. Key success factors included mobile first design, offline capability, and local payment integration.</a:t>
            </a:r>
            <a:endParaRPr lang="en-US" sz="1200" dirty="0"/>
          </a:p>
        </p:txBody>
      </p:sp>
      <p:sp>
        <p:nvSpPr>
          <p:cNvPr id="12" name="Shape 10"/>
          <p:cNvSpPr/>
          <p:nvPr/>
        </p:nvSpPr>
        <p:spPr>
          <a:xfrm>
            <a:off x="6309360" y="2286000"/>
            <a:ext cx="5394960" cy="3474720"/>
          </a:xfrm>
          <a:prstGeom prst="roundRect">
            <a:avLst>
              <a:gd name="adj" fmla="val 3158"/>
            </a:avLst>
          </a:prstGeom>
          <a:solidFill>
            <a:srgbClr val="FFFFFF"/>
          </a:solidFill>
          <a:ln w="19050">
            <a:solidFill>
              <a:srgbClr val="1E3AA0"/>
            </a:solidFill>
            <a:prstDash val="solid"/>
          </a:ln>
        </p:spPr>
      </p:sp>
      <p:sp>
        <p:nvSpPr>
          <p:cNvPr id="13" name="Shape 11"/>
          <p:cNvSpPr/>
          <p:nvPr/>
        </p:nvSpPr>
        <p:spPr>
          <a:xfrm>
            <a:off x="6309360" y="2286000"/>
            <a:ext cx="5394960" cy="548640"/>
          </a:xfrm>
          <a:prstGeom prst="rect">
            <a:avLst/>
          </a:prstGeom>
          <a:solidFill>
            <a:srgbClr val="10B981"/>
          </a:solidFill>
          <a:ln/>
        </p:spPr>
      </p:sp>
      <p:sp>
        <p:nvSpPr>
          <p:cNvPr id="14" name="Text 12"/>
          <p:cNvSpPr/>
          <p:nvPr/>
        </p:nvSpPr>
        <p:spPr>
          <a:xfrm>
            <a:off x="6309360" y="2286000"/>
            <a:ext cx="5394960" cy="548640"/>
          </a:xfrm>
          <a:prstGeom prst="rect">
            <a:avLst/>
          </a:prstGeom>
          <a:noFill/>
          <a:ln/>
        </p:spPr>
        <p:txBody>
          <a:bodyPr wrap="square"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Okafor and Eze (2022)</a:t>
            </a:r>
            <a:endParaRPr lang="en-US" sz="1600" dirty="0"/>
          </a:p>
        </p:txBody>
      </p:sp>
      <p:sp>
        <p:nvSpPr>
          <p:cNvPr id="15" name="Text 13"/>
          <p:cNvSpPr/>
          <p:nvPr/>
        </p:nvSpPr>
        <p:spPr>
          <a:xfrm>
            <a:off x="6492240" y="2926080"/>
            <a:ext cx="5029200" cy="457200"/>
          </a:xfrm>
          <a:prstGeom prst="rect">
            <a:avLst/>
          </a:prstGeom>
          <a:noFill/>
          <a:ln/>
        </p:spPr>
        <p:txBody>
          <a:bodyPr wrap="square" rtlCol="0" anchor="ctr"/>
          <a:lstStyle/>
          <a:p>
            <a:pPr algn="ctr" indent="0" marL="0">
              <a:buNone/>
            </a:pPr>
            <a:r>
              <a:rPr lang="en-US" sz="1200" i="1" dirty="0">
                <a:solidFill>
                  <a:srgbClr val="E63946"/>
                </a:solidFill>
                <a:latin typeface="Times New Roman" pitchFamily="34" charset="0"/>
                <a:ea typeface="Times New Roman" pitchFamily="34" charset="-122"/>
                <a:cs typeface="Times New Roman" pitchFamily="34" charset="-120"/>
              </a:rPr>
              <a:t>"Mobile Payment Adoption in African Higher Education: Opportunities and Challenges"</a:t>
            </a:r>
            <a:endParaRPr lang="en-US" sz="1200" dirty="0"/>
          </a:p>
        </p:txBody>
      </p:sp>
      <p:sp>
        <p:nvSpPr>
          <p:cNvPr id="16" name="Text 14"/>
          <p:cNvSpPr/>
          <p:nvPr/>
        </p:nvSpPr>
        <p:spPr>
          <a:xfrm>
            <a:off x="6492240" y="3383280"/>
            <a:ext cx="5029200" cy="365760"/>
          </a:xfrm>
          <a:prstGeom prst="rect">
            <a:avLst/>
          </a:prstGeom>
          <a:noFill/>
          <a:ln/>
        </p:spPr>
        <p:txBody>
          <a:bodyPr wrap="square" rtlCol="0" anchor="ctr"/>
          <a:lstStyle/>
          <a:p>
            <a:pPr algn="ctr" indent="0" marL="0">
              <a:buNone/>
            </a:pPr>
            <a:r>
              <a:rPr lang="en-US" sz="1100" dirty="0">
                <a:solidFill>
                  <a:srgbClr val="64748B"/>
                </a:solidFill>
                <a:latin typeface="Times New Roman" pitchFamily="34" charset="0"/>
                <a:ea typeface="Times New Roman" pitchFamily="34" charset="-122"/>
                <a:cs typeface="Times New Roman" pitchFamily="34" charset="-120"/>
              </a:rPr>
              <a:t>African Journal of Information Systems, 14(2), 45 62</a:t>
            </a:r>
            <a:endParaRPr lang="en-US" sz="1100" dirty="0"/>
          </a:p>
        </p:txBody>
      </p:sp>
      <p:sp>
        <p:nvSpPr>
          <p:cNvPr id="17" name="Text 15"/>
          <p:cNvSpPr/>
          <p:nvPr/>
        </p:nvSpPr>
        <p:spPr>
          <a:xfrm>
            <a:off x="6492240" y="3840480"/>
            <a:ext cx="5029200" cy="1828800"/>
          </a:xfrm>
          <a:prstGeom prst="rect">
            <a:avLst/>
          </a:prstGeom>
          <a:noFill/>
          <a:ln/>
        </p:spPr>
        <p:txBody>
          <a:bodyPr wrap="square" rtlCol="0" anchor="t"/>
          <a:lstStyle/>
          <a:p>
            <a:pPr algn="ctr" indent="0" marL="0">
              <a:buNone/>
            </a:pPr>
            <a:r>
              <a:rPr lang="en-US" sz="1200" dirty="0">
                <a:solidFill>
                  <a:srgbClr val="1E293B"/>
                </a:solidFill>
                <a:latin typeface="Times New Roman" pitchFamily="34" charset="0"/>
                <a:ea typeface="Times New Roman" pitchFamily="34" charset="-122"/>
                <a:cs typeface="Times New Roman" pitchFamily="34" charset="-120"/>
              </a:rPr>
              <a:t>This research surveyed 2,400 university students across Nigeria, Ghana, and Cameroon regarding mobile payment adoption for tuition. Results showed that 78 percent of students preferred mobile money (MoMo or OM) for fee payments. Key barriers included security concerns (cited by 45 percent) and lack of integration with university systems (cited by 62 percent). SIARM addresses both barriers.</a:t>
            </a:r>
            <a:endParaRPr lang="en-US" sz="1200" dirty="0"/>
          </a:p>
        </p:txBody>
      </p:sp>
      <p:sp>
        <p:nvSpPr>
          <p:cNvPr id="18" name="Text 16"/>
          <p:cNvSpPr/>
          <p:nvPr/>
        </p:nvSpPr>
        <p:spPr>
          <a:xfrm>
            <a:off x="457200" y="5989320"/>
            <a:ext cx="11247120" cy="320040"/>
          </a:xfrm>
          <a:prstGeom prst="rect">
            <a:avLst/>
          </a:prstGeom>
          <a:noFill/>
          <a:ln/>
        </p:spPr>
        <p:txBody>
          <a:bodyPr wrap="square" rtlCol="0" anchor="ctr"/>
          <a:lstStyle/>
          <a:p>
            <a:pPr algn="ctr" indent="0" marL="0">
              <a:buNone/>
            </a:pPr>
            <a:r>
              <a:rPr lang="en-US" sz="1200" i="1" dirty="0">
                <a:solidFill>
                  <a:srgbClr val="64748B"/>
                </a:solidFill>
                <a:latin typeface="Times New Roman" pitchFamily="34" charset="0"/>
                <a:ea typeface="Times New Roman" pitchFamily="34" charset="-122"/>
                <a:cs typeface="Times New Roman" pitchFamily="34" charset="-120"/>
              </a:rPr>
              <a:t>Both studies directly informed the architectural decisions of SIARM.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indent="0" marL="0">
              <a:buNone/>
            </a:pPr>
            <a:r>
              <a:rPr lang="en-US" sz="3200" b="1" dirty="0">
                <a:solidFill>
                  <a:srgbClr val="1E3AA0"/>
                </a:solidFill>
                <a:latin typeface="Times New Roman" pitchFamily="34" charset="0"/>
                <a:ea typeface="Times New Roman" pitchFamily="34" charset="-122"/>
                <a:cs typeface="Times New Roman" pitchFamily="34" charset="-120"/>
              </a:rPr>
              <a:t>Methodology</a:t>
            </a:r>
            <a:endParaRPr lang="en-US" sz="3200" dirty="0"/>
          </a:p>
        </p:txBody>
      </p:sp>
      <p:sp>
        <p:nvSpPr>
          <p:cNvPr id="3" name="Text 1"/>
          <p:cNvSpPr/>
          <p:nvPr/>
        </p:nvSpPr>
        <p:spPr>
          <a:xfrm>
            <a:off x="457200" y="960120"/>
            <a:ext cx="11247120" cy="365760"/>
          </a:xfrm>
          <a:prstGeom prst="rect">
            <a:avLst/>
          </a:prstGeom>
          <a:noFill/>
          <a:ln/>
        </p:spPr>
        <p:txBody>
          <a:bodyPr wrap="square" rtlCol="0" anchor="ctr"/>
          <a:lstStyle/>
          <a:p>
            <a:pPr indent="0" marL="0">
              <a:buNone/>
            </a:pPr>
            <a:r>
              <a:rPr lang="en-US" sz="1500" i="1" dirty="0">
                <a:solidFill>
                  <a:srgbClr val="E63946"/>
                </a:solidFill>
                <a:latin typeface="Times New Roman" pitchFamily="34" charset="0"/>
                <a:ea typeface="Times New Roman" pitchFamily="34" charset="-122"/>
                <a:cs typeface="Times New Roman" pitchFamily="34" charset="-120"/>
              </a:rPr>
              <a:t>Agile  |  Scrumban  |  Five Sprints</a:t>
            </a:r>
            <a:endParaRPr lang="en-US" sz="1500" dirty="0"/>
          </a:p>
        </p:txBody>
      </p:sp>
      <p:sp>
        <p:nvSpPr>
          <p:cNvPr id="4" name="Shape 2"/>
          <p:cNvSpPr/>
          <p:nvPr/>
        </p:nvSpPr>
        <p:spPr>
          <a:xfrm>
            <a:off x="457200" y="1554480"/>
            <a:ext cx="11247120" cy="1097280"/>
          </a:xfrm>
          <a:prstGeom prst="roundRect">
            <a:avLst>
              <a:gd name="adj" fmla="val 10000"/>
            </a:avLst>
          </a:prstGeom>
          <a:solidFill>
            <a:srgbClr val="FFFFFF"/>
          </a:solidFill>
          <a:ln w="19050">
            <a:solidFill>
              <a:srgbClr val="1E3AA0"/>
            </a:solidFill>
            <a:prstDash val="solid"/>
          </a:ln>
        </p:spPr>
      </p:sp>
      <p:sp>
        <p:nvSpPr>
          <p:cNvPr id="5" name="Shape 3"/>
          <p:cNvSpPr/>
          <p:nvPr/>
        </p:nvSpPr>
        <p:spPr>
          <a:xfrm>
            <a:off x="457200" y="1554480"/>
            <a:ext cx="3200400" cy="1097280"/>
          </a:xfrm>
          <a:prstGeom prst="rect">
            <a:avLst/>
          </a:prstGeom>
          <a:solidFill>
            <a:srgbClr val="1E3AA0"/>
          </a:solidFill>
          <a:ln/>
        </p:spPr>
      </p:sp>
      <p:sp>
        <p:nvSpPr>
          <p:cNvPr id="6" name="Text 4"/>
          <p:cNvSpPr/>
          <p:nvPr/>
        </p:nvSpPr>
        <p:spPr>
          <a:xfrm>
            <a:off x="457200" y="1554480"/>
            <a:ext cx="3200400" cy="1097280"/>
          </a:xfrm>
          <a:prstGeom prst="rect">
            <a:avLst/>
          </a:prstGeom>
          <a:noFill/>
          <a:ln/>
        </p:spPr>
        <p:txBody>
          <a:bodyPr wrap="square"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Why Agile?</a:t>
            </a:r>
            <a:endParaRPr lang="en-US" sz="2200" dirty="0"/>
          </a:p>
        </p:txBody>
      </p:sp>
      <p:sp>
        <p:nvSpPr>
          <p:cNvPr id="7" name="Text 5"/>
          <p:cNvSpPr/>
          <p:nvPr/>
        </p:nvSpPr>
        <p:spPr>
          <a:xfrm>
            <a:off x="3840480" y="1600200"/>
            <a:ext cx="7680960" cy="1005840"/>
          </a:xfrm>
          <a:prstGeom prst="rect">
            <a:avLst/>
          </a:prstGeom>
          <a:noFill/>
          <a:ln/>
        </p:spPr>
        <p:txBody>
          <a:bodyPr wrap="square" rtlCol="0" anchor="ctr"/>
          <a:lstStyle/>
          <a:p>
            <a:pPr indent="0" marL="0">
              <a:buNone/>
            </a:pPr>
            <a:r>
              <a:rPr lang="en-US" sz="1400" dirty="0">
                <a:solidFill>
                  <a:srgbClr val="1E293B"/>
                </a:solidFill>
                <a:latin typeface="Times New Roman" pitchFamily="34" charset="0"/>
                <a:ea typeface="Times New Roman" pitchFamily="34" charset="-122"/>
                <a:cs typeface="Times New Roman" pitchFamily="34" charset="-120"/>
              </a:rPr>
              <a:t>Requirements evolved weekly. The IUGET registrar's feedback changed priorities regularly. Waterfall would have locked a stale specification. Agile allowed mid course corrections transparently recorded on the burndown chart.</a:t>
            </a:r>
            <a:endParaRPr lang="en-US" sz="1400" dirty="0"/>
          </a:p>
        </p:txBody>
      </p:sp>
      <p:sp>
        <p:nvSpPr>
          <p:cNvPr id="8" name="Shape 6"/>
          <p:cNvSpPr/>
          <p:nvPr/>
        </p:nvSpPr>
        <p:spPr>
          <a:xfrm>
            <a:off x="457200" y="2926080"/>
            <a:ext cx="11247120" cy="914400"/>
          </a:xfrm>
          <a:prstGeom prst="roundRect">
            <a:avLst>
              <a:gd name="adj" fmla="val 12000"/>
            </a:avLst>
          </a:prstGeom>
          <a:solidFill>
            <a:srgbClr val="FFFFFF"/>
          </a:solidFill>
          <a:ln w="19050">
            <a:solidFill>
              <a:srgbClr val="10B981"/>
            </a:solidFill>
            <a:prstDash val="solid"/>
          </a:ln>
        </p:spPr>
      </p:sp>
      <p:sp>
        <p:nvSpPr>
          <p:cNvPr id="9" name="Shape 7"/>
          <p:cNvSpPr/>
          <p:nvPr/>
        </p:nvSpPr>
        <p:spPr>
          <a:xfrm>
            <a:off x="457200" y="2926080"/>
            <a:ext cx="3200400" cy="914400"/>
          </a:xfrm>
          <a:prstGeom prst="rect">
            <a:avLst/>
          </a:prstGeom>
          <a:solidFill>
            <a:srgbClr val="10B981"/>
          </a:solidFill>
          <a:ln/>
        </p:spPr>
      </p:sp>
      <p:sp>
        <p:nvSpPr>
          <p:cNvPr id="10" name="Text 8"/>
          <p:cNvSpPr/>
          <p:nvPr/>
        </p:nvSpPr>
        <p:spPr>
          <a:xfrm>
            <a:off x="457200" y="2926080"/>
            <a:ext cx="3200400" cy="914400"/>
          </a:xfrm>
          <a:prstGeom prst="rect">
            <a:avLst/>
          </a:prstGeom>
          <a:noFill/>
          <a:ln/>
        </p:spPr>
        <p:txBody>
          <a:bodyPr wrap="square"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Reasons for Choice</a:t>
            </a:r>
            <a:endParaRPr lang="en-US" sz="2200" dirty="0"/>
          </a:p>
        </p:txBody>
      </p:sp>
      <p:sp>
        <p:nvSpPr>
          <p:cNvPr id="11" name="Text 9"/>
          <p:cNvSpPr/>
          <p:nvPr/>
        </p:nvSpPr>
        <p:spPr>
          <a:xfrm>
            <a:off x="3840480" y="2971800"/>
            <a:ext cx="7680960" cy="822960"/>
          </a:xfrm>
          <a:prstGeom prst="rect">
            <a:avLst/>
          </a:prstGeom>
          <a:noFill/>
          <a:ln/>
        </p:spPr>
        <p:txBody>
          <a:bodyPr wrap="square" rtlCol="0" anchor="ctr"/>
          <a:lstStyle/>
          <a:p>
            <a:pPr indent="0" marL="0">
              <a:buNone/>
            </a:pPr>
            <a:r>
              <a:rPr lang="en-US" sz="1400" dirty="0">
                <a:solidFill>
                  <a:srgbClr val="1E293B"/>
                </a:solidFill>
                <a:latin typeface="Times New Roman" pitchFamily="34" charset="0"/>
                <a:ea typeface="Times New Roman" pitchFamily="34" charset="-122"/>
                <a:cs typeface="Times New Roman" pitchFamily="34" charset="-120"/>
              </a:rPr>
              <a:t>Scrumban approach: one week sprints with planning and review, combined with Kanban WIP limits (3 cards maximum in progress). This balanced the need for regular delivery with the reality of a solo developer workload.</a:t>
            </a:r>
            <a:endParaRPr lang="en-US" sz="1400" dirty="0"/>
          </a:p>
        </p:txBody>
      </p:sp>
      <p:sp>
        <p:nvSpPr>
          <p:cNvPr id="12" name="Shape 10"/>
          <p:cNvSpPr/>
          <p:nvPr/>
        </p:nvSpPr>
        <p:spPr>
          <a:xfrm>
            <a:off x="731520" y="4663440"/>
            <a:ext cx="10698480" cy="0"/>
          </a:xfrm>
          <a:prstGeom prst="line">
            <a:avLst/>
          </a:prstGeom>
          <a:noFill/>
          <a:ln w="25400">
            <a:solidFill>
              <a:srgbClr val="1E3AA0"/>
            </a:solidFill>
            <a:prstDash val="solid"/>
          </a:ln>
        </p:spPr>
      </p:sp>
      <p:sp>
        <p:nvSpPr>
          <p:cNvPr id="13" name="Shape 11"/>
          <p:cNvSpPr/>
          <p:nvPr/>
        </p:nvSpPr>
        <p:spPr>
          <a:xfrm>
            <a:off x="566928" y="4507992"/>
            <a:ext cx="365760" cy="365760"/>
          </a:xfrm>
          <a:prstGeom prst="ellipse">
            <a:avLst/>
          </a:prstGeom>
          <a:solidFill>
            <a:srgbClr val="E63946"/>
          </a:solidFill>
          <a:ln w="25400">
            <a:solidFill>
              <a:srgbClr val="FFFFFF"/>
            </a:solidFill>
            <a:prstDash val="solid"/>
          </a:ln>
        </p:spPr>
      </p:sp>
      <p:sp>
        <p:nvSpPr>
          <p:cNvPr id="14" name="Text 12"/>
          <p:cNvSpPr/>
          <p:nvPr/>
        </p:nvSpPr>
        <p:spPr>
          <a:xfrm>
            <a:off x="566928" y="4507992"/>
            <a:ext cx="365760" cy="365760"/>
          </a:xfrm>
          <a:prstGeom prst="rect">
            <a:avLst/>
          </a:prstGeom>
          <a:noFill/>
          <a:ln/>
        </p:spPr>
        <p:txBody>
          <a:bodyPr wrap="square"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S1</a:t>
            </a:r>
            <a:endParaRPr lang="en-US" sz="1100" dirty="0"/>
          </a:p>
        </p:txBody>
      </p:sp>
      <p:sp>
        <p:nvSpPr>
          <p:cNvPr id="15" name="Shape 13"/>
          <p:cNvSpPr/>
          <p:nvPr/>
        </p:nvSpPr>
        <p:spPr>
          <a:xfrm>
            <a:off x="0" y="4937760"/>
            <a:ext cx="2011680" cy="1188720"/>
          </a:xfrm>
          <a:prstGeom prst="roundRect">
            <a:avLst>
              <a:gd name="adj" fmla="val 7692"/>
            </a:avLst>
          </a:prstGeom>
          <a:solidFill>
            <a:srgbClr val="FFFFFF"/>
          </a:solidFill>
          <a:ln w="12700">
            <a:solidFill>
              <a:srgbClr val="1E3AA0"/>
            </a:solidFill>
            <a:prstDash val="solid"/>
          </a:ln>
        </p:spPr>
      </p:sp>
      <p:sp>
        <p:nvSpPr>
          <p:cNvPr id="16" name="Text 14"/>
          <p:cNvSpPr/>
          <p:nvPr/>
        </p:nvSpPr>
        <p:spPr>
          <a:xfrm>
            <a:off x="0" y="4983480"/>
            <a:ext cx="2011680" cy="411480"/>
          </a:xfrm>
          <a:prstGeom prst="rect">
            <a:avLst/>
          </a:prstGeom>
          <a:noFill/>
          <a:ln/>
        </p:spPr>
        <p:txBody>
          <a:bodyPr wrap="square" rtlCol="0" anchor="ctr"/>
          <a:lstStyle/>
          <a:p>
            <a:pPr algn="ctr" indent="0" marL="0">
              <a:buNone/>
            </a:pPr>
            <a:r>
              <a:rPr lang="en-US" sz="1300" b="1" dirty="0">
                <a:solidFill>
                  <a:srgbClr val="1E3AA0"/>
                </a:solidFill>
                <a:latin typeface="Times New Roman" pitchFamily="34" charset="0"/>
                <a:ea typeface="Times New Roman" pitchFamily="34" charset="-122"/>
                <a:cs typeface="Times New Roman" pitchFamily="34" charset="-120"/>
              </a:rPr>
              <a:t>Foundations</a:t>
            </a:r>
            <a:endParaRPr lang="en-US" sz="1300" dirty="0"/>
          </a:p>
        </p:txBody>
      </p:sp>
      <p:sp>
        <p:nvSpPr>
          <p:cNvPr id="17" name="Text 15"/>
          <p:cNvSpPr/>
          <p:nvPr/>
        </p:nvSpPr>
        <p:spPr>
          <a:xfrm>
            <a:off x="91440" y="5394960"/>
            <a:ext cx="1828800" cy="640080"/>
          </a:xfrm>
          <a:prstGeom prst="rect">
            <a:avLst/>
          </a:prstGeom>
          <a:noFill/>
          <a:ln/>
        </p:spPr>
        <p:txBody>
          <a:bodyPr wrap="square" rtlCol="0" anchor="ctr"/>
          <a:lstStyle/>
          <a:p>
            <a:pPr algn="ctr" indent="0" marL="0">
              <a:buNone/>
            </a:pPr>
            <a:r>
              <a:rPr lang="en-US" sz="1100" dirty="0">
                <a:solidFill>
                  <a:srgbClr val="1E293B"/>
                </a:solidFill>
                <a:latin typeface="Times New Roman" pitchFamily="34" charset="0"/>
                <a:ea typeface="Times New Roman" pitchFamily="34" charset="-122"/>
                <a:cs typeface="Times New Roman" pitchFamily="34" charset="-120"/>
              </a:rPr>
              <a:t>Auth, design system, scaffolding</a:t>
            </a:r>
            <a:endParaRPr lang="en-US" sz="1100" dirty="0"/>
          </a:p>
        </p:txBody>
      </p:sp>
      <p:sp>
        <p:nvSpPr>
          <p:cNvPr id="18" name="Shape 16"/>
          <p:cNvSpPr/>
          <p:nvPr/>
        </p:nvSpPr>
        <p:spPr>
          <a:xfrm>
            <a:off x="2807208" y="4507992"/>
            <a:ext cx="365760" cy="365760"/>
          </a:xfrm>
          <a:prstGeom prst="ellipse">
            <a:avLst/>
          </a:prstGeom>
          <a:solidFill>
            <a:srgbClr val="1E3AA0"/>
          </a:solidFill>
          <a:ln w="25400">
            <a:solidFill>
              <a:srgbClr val="FFFFFF"/>
            </a:solidFill>
            <a:prstDash val="solid"/>
          </a:ln>
        </p:spPr>
      </p:sp>
      <p:sp>
        <p:nvSpPr>
          <p:cNvPr id="19" name="Text 17"/>
          <p:cNvSpPr/>
          <p:nvPr/>
        </p:nvSpPr>
        <p:spPr>
          <a:xfrm>
            <a:off x="2807208" y="4507992"/>
            <a:ext cx="365760" cy="365760"/>
          </a:xfrm>
          <a:prstGeom prst="rect">
            <a:avLst/>
          </a:prstGeom>
          <a:noFill/>
          <a:ln/>
        </p:spPr>
        <p:txBody>
          <a:bodyPr wrap="square"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S2</a:t>
            </a:r>
            <a:endParaRPr lang="en-US" sz="1100" dirty="0"/>
          </a:p>
        </p:txBody>
      </p:sp>
      <p:sp>
        <p:nvSpPr>
          <p:cNvPr id="20" name="Shape 18"/>
          <p:cNvSpPr/>
          <p:nvPr/>
        </p:nvSpPr>
        <p:spPr>
          <a:xfrm>
            <a:off x="2240280" y="4937760"/>
            <a:ext cx="2011680" cy="1188720"/>
          </a:xfrm>
          <a:prstGeom prst="roundRect">
            <a:avLst>
              <a:gd name="adj" fmla="val 7692"/>
            </a:avLst>
          </a:prstGeom>
          <a:solidFill>
            <a:srgbClr val="FFFFFF"/>
          </a:solidFill>
          <a:ln w="12700">
            <a:solidFill>
              <a:srgbClr val="1E3AA0"/>
            </a:solidFill>
            <a:prstDash val="solid"/>
          </a:ln>
        </p:spPr>
      </p:sp>
      <p:sp>
        <p:nvSpPr>
          <p:cNvPr id="21" name="Text 19"/>
          <p:cNvSpPr/>
          <p:nvPr/>
        </p:nvSpPr>
        <p:spPr>
          <a:xfrm>
            <a:off x="2240280" y="4983480"/>
            <a:ext cx="2011680" cy="411480"/>
          </a:xfrm>
          <a:prstGeom prst="rect">
            <a:avLst/>
          </a:prstGeom>
          <a:noFill/>
          <a:ln/>
        </p:spPr>
        <p:txBody>
          <a:bodyPr wrap="square" rtlCol="0" anchor="ctr"/>
          <a:lstStyle/>
          <a:p>
            <a:pPr algn="ctr" indent="0" marL="0">
              <a:buNone/>
            </a:pPr>
            <a:r>
              <a:rPr lang="en-US" sz="1300" b="1" dirty="0">
                <a:solidFill>
                  <a:srgbClr val="1E3AA0"/>
                </a:solidFill>
                <a:latin typeface="Times New Roman" pitchFamily="34" charset="0"/>
                <a:ea typeface="Times New Roman" pitchFamily="34" charset="-122"/>
                <a:cs typeface="Times New Roman" pitchFamily="34" charset="-120"/>
              </a:rPr>
              <a:t>Student &amp; Lecturer</a:t>
            </a:r>
            <a:endParaRPr lang="en-US" sz="1300" dirty="0"/>
          </a:p>
        </p:txBody>
      </p:sp>
      <p:sp>
        <p:nvSpPr>
          <p:cNvPr id="22" name="Text 20"/>
          <p:cNvSpPr/>
          <p:nvPr/>
        </p:nvSpPr>
        <p:spPr>
          <a:xfrm>
            <a:off x="2331720" y="5394960"/>
            <a:ext cx="1828800" cy="640080"/>
          </a:xfrm>
          <a:prstGeom prst="rect">
            <a:avLst/>
          </a:prstGeom>
          <a:noFill/>
          <a:ln/>
        </p:spPr>
        <p:txBody>
          <a:bodyPr wrap="square" rtlCol="0" anchor="ctr"/>
          <a:lstStyle/>
          <a:p>
            <a:pPr algn="ctr" indent="0" marL="0">
              <a:buNone/>
            </a:pPr>
            <a:r>
              <a:rPr lang="en-US" sz="1100" dirty="0">
                <a:solidFill>
                  <a:srgbClr val="1E293B"/>
                </a:solidFill>
                <a:latin typeface="Times New Roman" pitchFamily="34" charset="0"/>
                <a:ea typeface="Times New Roman" pitchFamily="34" charset="-122"/>
                <a:cs typeface="Times New Roman" pitchFamily="34" charset="-120"/>
              </a:rPr>
              <a:t>Attendance, timetable, results</a:t>
            </a:r>
            <a:endParaRPr lang="en-US" sz="1100" dirty="0"/>
          </a:p>
        </p:txBody>
      </p:sp>
      <p:sp>
        <p:nvSpPr>
          <p:cNvPr id="23" name="Shape 21"/>
          <p:cNvSpPr/>
          <p:nvPr/>
        </p:nvSpPr>
        <p:spPr>
          <a:xfrm>
            <a:off x="5047488" y="4507992"/>
            <a:ext cx="365760" cy="365760"/>
          </a:xfrm>
          <a:prstGeom prst="ellipse">
            <a:avLst/>
          </a:prstGeom>
          <a:solidFill>
            <a:srgbClr val="1E3AA0"/>
          </a:solidFill>
          <a:ln w="25400">
            <a:solidFill>
              <a:srgbClr val="FFFFFF"/>
            </a:solidFill>
            <a:prstDash val="solid"/>
          </a:ln>
        </p:spPr>
      </p:sp>
      <p:sp>
        <p:nvSpPr>
          <p:cNvPr id="24" name="Text 22"/>
          <p:cNvSpPr/>
          <p:nvPr/>
        </p:nvSpPr>
        <p:spPr>
          <a:xfrm>
            <a:off x="5047488" y="4507992"/>
            <a:ext cx="365760" cy="365760"/>
          </a:xfrm>
          <a:prstGeom prst="rect">
            <a:avLst/>
          </a:prstGeom>
          <a:noFill/>
          <a:ln/>
        </p:spPr>
        <p:txBody>
          <a:bodyPr wrap="square"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S3</a:t>
            </a:r>
            <a:endParaRPr lang="en-US" sz="1100" dirty="0"/>
          </a:p>
        </p:txBody>
      </p:sp>
      <p:sp>
        <p:nvSpPr>
          <p:cNvPr id="25" name="Shape 23"/>
          <p:cNvSpPr/>
          <p:nvPr/>
        </p:nvSpPr>
        <p:spPr>
          <a:xfrm>
            <a:off x="4480560" y="4937760"/>
            <a:ext cx="2011680" cy="1188720"/>
          </a:xfrm>
          <a:prstGeom prst="roundRect">
            <a:avLst>
              <a:gd name="adj" fmla="val 7692"/>
            </a:avLst>
          </a:prstGeom>
          <a:solidFill>
            <a:srgbClr val="FFFFFF"/>
          </a:solidFill>
          <a:ln w="12700">
            <a:solidFill>
              <a:srgbClr val="1E3AA0"/>
            </a:solidFill>
            <a:prstDash val="solid"/>
          </a:ln>
        </p:spPr>
      </p:sp>
      <p:sp>
        <p:nvSpPr>
          <p:cNvPr id="26" name="Text 24"/>
          <p:cNvSpPr/>
          <p:nvPr/>
        </p:nvSpPr>
        <p:spPr>
          <a:xfrm>
            <a:off x="4480560" y="4983480"/>
            <a:ext cx="2011680" cy="411480"/>
          </a:xfrm>
          <a:prstGeom prst="rect">
            <a:avLst/>
          </a:prstGeom>
          <a:noFill/>
          <a:ln/>
        </p:spPr>
        <p:txBody>
          <a:bodyPr wrap="square" rtlCol="0" anchor="ctr"/>
          <a:lstStyle/>
          <a:p>
            <a:pPr algn="ctr" indent="0" marL="0">
              <a:buNone/>
            </a:pPr>
            <a:r>
              <a:rPr lang="en-US" sz="1300" b="1" dirty="0">
                <a:solidFill>
                  <a:srgbClr val="1E3AA0"/>
                </a:solidFill>
                <a:latin typeface="Times New Roman" pitchFamily="34" charset="0"/>
                <a:ea typeface="Times New Roman" pitchFamily="34" charset="-122"/>
                <a:cs typeface="Times New Roman" pitchFamily="34" charset="-120"/>
              </a:rPr>
              <a:t>Staff &amp; Admin</a:t>
            </a:r>
            <a:endParaRPr lang="en-US" sz="1300" dirty="0"/>
          </a:p>
        </p:txBody>
      </p:sp>
      <p:sp>
        <p:nvSpPr>
          <p:cNvPr id="27" name="Text 25"/>
          <p:cNvSpPr/>
          <p:nvPr/>
        </p:nvSpPr>
        <p:spPr>
          <a:xfrm>
            <a:off x="4572000" y="5394960"/>
            <a:ext cx="1828800" cy="640080"/>
          </a:xfrm>
          <a:prstGeom prst="rect">
            <a:avLst/>
          </a:prstGeom>
          <a:noFill/>
          <a:ln/>
        </p:spPr>
        <p:txBody>
          <a:bodyPr wrap="square" rtlCol="0" anchor="ctr"/>
          <a:lstStyle/>
          <a:p>
            <a:pPr algn="ctr" indent="0" marL="0">
              <a:buNone/>
            </a:pPr>
            <a:r>
              <a:rPr lang="en-US" sz="1100" dirty="0">
                <a:solidFill>
                  <a:srgbClr val="1E293B"/>
                </a:solidFill>
                <a:latin typeface="Times New Roman" pitchFamily="34" charset="0"/>
                <a:ea typeface="Times New Roman" pitchFamily="34" charset="-122"/>
                <a:cs typeface="Times New Roman" pitchFamily="34" charset="-120"/>
              </a:rPr>
              <a:t>Finance, enrolment, announcements</a:t>
            </a:r>
            <a:endParaRPr lang="en-US" sz="1100" dirty="0"/>
          </a:p>
        </p:txBody>
      </p:sp>
      <p:sp>
        <p:nvSpPr>
          <p:cNvPr id="28" name="Shape 26"/>
          <p:cNvSpPr/>
          <p:nvPr/>
        </p:nvSpPr>
        <p:spPr>
          <a:xfrm>
            <a:off x="7287768" y="4507992"/>
            <a:ext cx="365760" cy="365760"/>
          </a:xfrm>
          <a:prstGeom prst="ellipse">
            <a:avLst/>
          </a:prstGeom>
          <a:solidFill>
            <a:srgbClr val="1E3AA0"/>
          </a:solidFill>
          <a:ln w="25400">
            <a:solidFill>
              <a:srgbClr val="FFFFFF"/>
            </a:solidFill>
            <a:prstDash val="solid"/>
          </a:ln>
        </p:spPr>
      </p:sp>
      <p:sp>
        <p:nvSpPr>
          <p:cNvPr id="29" name="Text 27"/>
          <p:cNvSpPr/>
          <p:nvPr/>
        </p:nvSpPr>
        <p:spPr>
          <a:xfrm>
            <a:off x="7287768" y="4507992"/>
            <a:ext cx="365760" cy="365760"/>
          </a:xfrm>
          <a:prstGeom prst="rect">
            <a:avLst/>
          </a:prstGeom>
          <a:noFill/>
          <a:ln/>
        </p:spPr>
        <p:txBody>
          <a:bodyPr wrap="square"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S4</a:t>
            </a:r>
            <a:endParaRPr lang="en-US" sz="1100" dirty="0"/>
          </a:p>
        </p:txBody>
      </p:sp>
      <p:sp>
        <p:nvSpPr>
          <p:cNvPr id="30" name="Shape 28"/>
          <p:cNvSpPr/>
          <p:nvPr/>
        </p:nvSpPr>
        <p:spPr>
          <a:xfrm>
            <a:off x="6720840" y="4937760"/>
            <a:ext cx="2011680" cy="1188720"/>
          </a:xfrm>
          <a:prstGeom prst="roundRect">
            <a:avLst>
              <a:gd name="adj" fmla="val 7692"/>
            </a:avLst>
          </a:prstGeom>
          <a:solidFill>
            <a:srgbClr val="FFFFFF"/>
          </a:solidFill>
          <a:ln w="12700">
            <a:solidFill>
              <a:srgbClr val="1E3AA0"/>
            </a:solidFill>
            <a:prstDash val="solid"/>
          </a:ln>
        </p:spPr>
      </p:sp>
      <p:sp>
        <p:nvSpPr>
          <p:cNvPr id="31" name="Text 29"/>
          <p:cNvSpPr/>
          <p:nvPr/>
        </p:nvSpPr>
        <p:spPr>
          <a:xfrm>
            <a:off x="6720840" y="4983480"/>
            <a:ext cx="2011680" cy="411480"/>
          </a:xfrm>
          <a:prstGeom prst="rect">
            <a:avLst/>
          </a:prstGeom>
          <a:noFill/>
          <a:ln/>
        </p:spPr>
        <p:txBody>
          <a:bodyPr wrap="square" rtlCol="0" anchor="ctr"/>
          <a:lstStyle/>
          <a:p>
            <a:pPr algn="ctr" indent="0" marL="0">
              <a:buNone/>
            </a:pPr>
            <a:r>
              <a:rPr lang="en-US" sz="1300" b="1" dirty="0">
                <a:solidFill>
                  <a:srgbClr val="1E3AA0"/>
                </a:solidFill>
                <a:latin typeface="Times New Roman" pitchFamily="34" charset="0"/>
                <a:ea typeface="Times New Roman" pitchFamily="34" charset="-122"/>
                <a:cs typeface="Times New Roman" pitchFamily="34" charset="-120"/>
              </a:rPr>
              <a:t>Parent Portal</a:t>
            </a:r>
            <a:endParaRPr lang="en-US" sz="1300" dirty="0"/>
          </a:p>
        </p:txBody>
      </p:sp>
      <p:sp>
        <p:nvSpPr>
          <p:cNvPr id="32" name="Text 30"/>
          <p:cNvSpPr/>
          <p:nvPr/>
        </p:nvSpPr>
        <p:spPr>
          <a:xfrm>
            <a:off x="6812280" y="5394960"/>
            <a:ext cx="1828800" cy="640080"/>
          </a:xfrm>
          <a:prstGeom prst="rect">
            <a:avLst/>
          </a:prstGeom>
          <a:noFill/>
          <a:ln/>
        </p:spPr>
        <p:txBody>
          <a:bodyPr wrap="square" rtlCol="0" anchor="ctr"/>
          <a:lstStyle/>
          <a:p>
            <a:pPr algn="ctr" indent="0" marL="0">
              <a:buNone/>
            </a:pPr>
            <a:r>
              <a:rPr lang="en-US" sz="1100" dirty="0">
                <a:solidFill>
                  <a:srgbClr val="1E293B"/>
                </a:solidFill>
                <a:latin typeface="Times New Roman" pitchFamily="34" charset="0"/>
                <a:ea typeface="Times New Roman" pitchFamily="34" charset="-122"/>
                <a:cs typeface="Times New Roman" pitchFamily="34" charset="-120"/>
              </a:rPr>
              <a:t>Wizard, payment simulation</a:t>
            </a:r>
            <a:endParaRPr lang="en-US" sz="1100" dirty="0"/>
          </a:p>
        </p:txBody>
      </p:sp>
      <p:sp>
        <p:nvSpPr>
          <p:cNvPr id="33" name="Shape 31"/>
          <p:cNvSpPr/>
          <p:nvPr/>
        </p:nvSpPr>
        <p:spPr>
          <a:xfrm>
            <a:off x="9528048" y="4507992"/>
            <a:ext cx="365760" cy="365760"/>
          </a:xfrm>
          <a:prstGeom prst="ellipse">
            <a:avLst/>
          </a:prstGeom>
          <a:solidFill>
            <a:srgbClr val="1E3AA0"/>
          </a:solidFill>
          <a:ln w="25400">
            <a:solidFill>
              <a:srgbClr val="FFFFFF"/>
            </a:solidFill>
            <a:prstDash val="solid"/>
          </a:ln>
        </p:spPr>
      </p:sp>
      <p:sp>
        <p:nvSpPr>
          <p:cNvPr id="34" name="Text 32"/>
          <p:cNvSpPr/>
          <p:nvPr/>
        </p:nvSpPr>
        <p:spPr>
          <a:xfrm>
            <a:off x="9528048" y="4507992"/>
            <a:ext cx="365760" cy="365760"/>
          </a:xfrm>
          <a:prstGeom prst="rect">
            <a:avLst/>
          </a:prstGeom>
          <a:noFill/>
          <a:ln/>
        </p:spPr>
        <p:txBody>
          <a:bodyPr wrap="square"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S5</a:t>
            </a:r>
            <a:endParaRPr lang="en-US" sz="1100" dirty="0"/>
          </a:p>
        </p:txBody>
      </p:sp>
      <p:sp>
        <p:nvSpPr>
          <p:cNvPr id="35" name="Shape 33"/>
          <p:cNvSpPr/>
          <p:nvPr/>
        </p:nvSpPr>
        <p:spPr>
          <a:xfrm>
            <a:off x="8961120" y="4937760"/>
            <a:ext cx="2011680" cy="1188720"/>
          </a:xfrm>
          <a:prstGeom prst="roundRect">
            <a:avLst>
              <a:gd name="adj" fmla="val 7692"/>
            </a:avLst>
          </a:prstGeom>
          <a:solidFill>
            <a:srgbClr val="FFFFFF"/>
          </a:solidFill>
          <a:ln w="12700">
            <a:solidFill>
              <a:srgbClr val="1E3AA0"/>
            </a:solidFill>
            <a:prstDash val="solid"/>
          </a:ln>
        </p:spPr>
      </p:sp>
      <p:sp>
        <p:nvSpPr>
          <p:cNvPr id="36" name="Text 34"/>
          <p:cNvSpPr/>
          <p:nvPr/>
        </p:nvSpPr>
        <p:spPr>
          <a:xfrm>
            <a:off x="8961120" y="4983480"/>
            <a:ext cx="2011680" cy="411480"/>
          </a:xfrm>
          <a:prstGeom prst="rect">
            <a:avLst/>
          </a:prstGeom>
          <a:noFill/>
          <a:ln/>
        </p:spPr>
        <p:txBody>
          <a:bodyPr wrap="square" rtlCol="0" anchor="ctr"/>
          <a:lstStyle/>
          <a:p>
            <a:pPr algn="ctr" indent="0" marL="0">
              <a:buNone/>
            </a:pPr>
            <a:r>
              <a:rPr lang="en-US" sz="1300" b="1" dirty="0">
                <a:solidFill>
                  <a:srgbClr val="1E3AA0"/>
                </a:solidFill>
                <a:latin typeface="Times New Roman" pitchFamily="34" charset="0"/>
                <a:ea typeface="Times New Roman" pitchFamily="34" charset="-122"/>
                <a:cs typeface="Times New Roman" pitchFamily="34" charset="-120"/>
              </a:rPr>
              <a:t>Polish &amp; Defence</a:t>
            </a:r>
            <a:endParaRPr lang="en-US" sz="1300" dirty="0"/>
          </a:p>
        </p:txBody>
      </p:sp>
      <p:sp>
        <p:nvSpPr>
          <p:cNvPr id="37" name="Text 35"/>
          <p:cNvSpPr/>
          <p:nvPr/>
        </p:nvSpPr>
        <p:spPr>
          <a:xfrm>
            <a:off x="9052560" y="5394960"/>
            <a:ext cx="1828800" cy="640080"/>
          </a:xfrm>
          <a:prstGeom prst="rect">
            <a:avLst/>
          </a:prstGeom>
          <a:noFill/>
          <a:ln/>
        </p:spPr>
        <p:txBody>
          <a:bodyPr wrap="square" rtlCol="0" anchor="ctr"/>
          <a:lstStyle/>
          <a:p>
            <a:pPr algn="ctr" indent="0" marL="0">
              <a:buNone/>
            </a:pPr>
            <a:r>
              <a:rPr lang="en-US" sz="1100" dirty="0">
                <a:solidFill>
                  <a:srgbClr val="1E293B"/>
                </a:solidFill>
                <a:latin typeface="Times New Roman" pitchFamily="34" charset="0"/>
                <a:ea typeface="Times New Roman" pitchFamily="34" charset="-122"/>
                <a:cs typeface="Times New Roman" pitchFamily="34" charset="-120"/>
              </a:rPr>
              <a:t>PWA, documentation, diagrams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indent="0" marL="0">
              <a:buNone/>
            </a:pPr>
            <a:r>
              <a:rPr lang="en-US" sz="3200" b="1" dirty="0">
                <a:solidFill>
                  <a:srgbClr val="1E3AA0"/>
                </a:solidFill>
                <a:latin typeface="Times New Roman" pitchFamily="34" charset="0"/>
                <a:ea typeface="Times New Roman" pitchFamily="34" charset="-122"/>
                <a:cs typeface="Times New Roman" pitchFamily="34" charset="-120"/>
              </a:rPr>
              <a:t>Use Case Diagram and System Architecture</a:t>
            </a:r>
            <a:endParaRPr lang="en-US" sz="3200" dirty="0"/>
          </a:p>
        </p:txBody>
      </p:sp>
      <p:sp>
        <p:nvSpPr>
          <p:cNvPr id="3" name="Text 1"/>
          <p:cNvSpPr/>
          <p:nvPr/>
        </p:nvSpPr>
        <p:spPr>
          <a:xfrm>
            <a:off x="457200" y="960120"/>
            <a:ext cx="11247120" cy="365760"/>
          </a:xfrm>
          <a:prstGeom prst="rect">
            <a:avLst/>
          </a:prstGeom>
          <a:noFill/>
          <a:ln/>
        </p:spPr>
        <p:txBody>
          <a:bodyPr wrap="square" rtlCol="0" anchor="ctr"/>
          <a:lstStyle/>
          <a:p>
            <a:pPr indent="0" marL="0">
              <a:buNone/>
            </a:pPr>
            <a:r>
              <a:rPr lang="en-US" sz="1500" i="1" dirty="0">
                <a:solidFill>
                  <a:srgbClr val="E63946"/>
                </a:solidFill>
                <a:latin typeface="Times New Roman" pitchFamily="34" charset="0"/>
                <a:ea typeface="Times New Roman" pitchFamily="34" charset="-122"/>
                <a:cs typeface="Times New Roman" pitchFamily="34" charset="-120"/>
              </a:rPr>
              <a:t>Three tier architecture with role based access</a:t>
            </a:r>
            <a:endParaRPr lang="en-US" sz="1500" dirty="0"/>
          </a:p>
        </p:txBody>
      </p:sp>
      <p:pic>
        <p:nvPicPr>
          <p:cNvPr id="4" name="Image 0" descr="/home/daytona/project/deliverables/diagrams/03-use-case.png">    </p:cNvPr>
          <p:cNvPicPr>
            <a:picLocks noChangeAspect="1"/>
          </p:cNvPicPr>
          <p:nvPr/>
        </p:nvPicPr>
        <p:blipFill>
          <a:blip r:embed="rId1"/>
          <a:stretch>
            <a:fillRect/>
          </a:stretch>
        </p:blipFill>
        <p:spPr>
          <a:xfrm>
            <a:off x="274320" y="1371600"/>
            <a:ext cx="5943600" cy="4754880"/>
          </a:xfrm>
          <a:prstGeom prst="rect">
            <a:avLst/>
          </a:prstGeom>
        </p:spPr>
      </p:pic>
      <p:sp>
        <p:nvSpPr>
          <p:cNvPr id="5" name="Text 2"/>
          <p:cNvSpPr/>
          <p:nvPr/>
        </p:nvSpPr>
        <p:spPr>
          <a:xfrm>
            <a:off x="457200" y="1188720"/>
            <a:ext cx="11247120" cy="320040"/>
          </a:xfrm>
          <a:prstGeom prst="rect">
            <a:avLst/>
          </a:prstGeom>
          <a:noFill/>
          <a:ln/>
        </p:spPr>
        <p:txBody>
          <a:bodyPr wrap="square" rtlCol="0" anchor="ctr"/>
          <a:lstStyle/>
          <a:p>
            <a:pPr algn="ctr" indent="0" marL="0">
              <a:buNone/>
            </a:pPr>
            <a:r>
              <a:rPr lang="en-US" sz="1200" i="1" dirty="0">
                <a:solidFill>
                  <a:srgbClr val="64748B"/>
                </a:solidFill>
                <a:latin typeface="Times New Roman" pitchFamily="34" charset="0"/>
                <a:ea typeface="Times New Roman" pitchFamily="34" charset="-122"/>
                <a:cs typeface="Times New Roman" pitchFamily="34" charset="-120"/>
              </a:rPr>
              <a:t>Figure 4.3  Use case diagram across all roles.</a:t>
            </a:r>
            <a:endParaRPr lang="en-US" sz="1200" dirty="0"/>
          </a:p>
        </p:txBody>
      </p:sp>
      <p:pic>
        <p:nvPicPr>
          <p:cNvPr id="6" name="Image 1" descr="/home/daytona/project/deliverables/diagrams/01-architecture.png">    </p:cNvPr>
          <p:cNvPicPr>
            <a:picLocks noChangeAspect="1"/>
          </p:cNvPicPr>
          <p:nvPr/>
        </p:nvPicPr>
        <p:blipFill>
          <a:blip r:embed="rId2"/>
          <a:stretch>
            <a:fillRect/>
          </a:stretch>
        </p:blipFill>
        <p:spPr>
          <a:xfrm>
            <a:off x="6217920" y="1371600"/>
            <a:ext cx="5669280" cy="4754880"/>
          </a:xfrm>
          <a:prstGeom prst="rect">
            <a:avLst/>
          </a:prstGeom>
        </p:spPr>
      </p:pic>
      <p:sp>
        <p:nvSpPr>
          <p:cNvPr id="7" name="Text 3"/>
          <p:cNvSpPr/>
          <p:nvPr/>
        </p:nvSpPr>
        <p:spPr>
          <a:xfrm>
            <a:off x="457200" y="6217920"/>
            <a:ext cx="11247120" cy="320040"/>
          </a:xfrm>
          <a:prstGeom prst="rect">
            <a:avLst/>
          </a:prstGeom>
          <a:noFill/>
          <a:ln/>
        </p:spPr>
        <p:txBody>
          <a:bodyPr wrap="square" rtlCol="0" anchor="ctr"/>
          <a:lstStyle/>
          <a:p>
            <a:pPr algn="ctr" indent="0" marL="0">
              <a:buNone/>
            </a:pPr>
            <a:r>
              <a:rPr lang="en-US" sz="1200" i="1" dirty="0">
                <a:solidFill>
                  <a:srgbClr val="64748B"/>
                </a:solidFill>
                <a:latin typeface="Times New Roman" pitchFamily="34" charset="0"/>
                <a:ea typeface="Times New Roman" pitchFamily="34" charset="-122"/>
                <a:cs typeface="Times New Roman" pitchFamily="34" charset="-120"/>
              </a:rPr>
              <a:t>Figure 4.1  System architecture (three tier).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indent="0" marL="0">
              <a:buNone/>
            </a:pPr>
            <a:r>
              <a:rPr lang="en-US" sz="3200" b="1" dirty="0">
                <a:solidFill>
                  <a:srgbClr val="1E3AA0"/>
                </a:solidFill>
                <a:latin typeface="Times New Roman" pitchFamily="34" charset="0"/>
                <a:ea typeface="Times New Roman" pitchFamily="34" charset="-122"/>
                <a:cs typeface="Times New Roman" pitchFamily="34" charset="-120"/>
              </a:rPr>
              <a:t>Results Obtained</a:t>
            </a:r>
            <a:endParaRPr lang="en-US" sz="3200" dirty="0"/>
          </a:p>
        </p:txBody>
      </p:sp>
      <p:sp>
        <p:nvSpPr>
          <p:cNvPr id="3" name="Text 1"/>
          <p:cNvSpPr/>
          <p:nvPr/>
        </p:nvSpPr>
        <p:spPr>
          <a:xfrm>
            <a:off x="457200" y="960120"/>
            <a:ext cx="11247120" cy="365760"/>
          </a:xfrm>
          <a:prstGeom prst="rect">
            <a:avLst/>
          </a:prstGeom>
          <a:noFill/>
          <a:ln/>
        </p:spPr>
        <p:txBody>
          <a:bodyPr wrap="square" rtlCol="0" anchor="ctr"/>
          <a:lstStyle/>
          <a:p>
            <a:pPr indent="0" marL="0">
              <a:buNone/>
            </a:pPr>
            <a:r>
              <a:rPr lang="en-US" sz="1500" i="1" dirty="0">
                <a:solidFill>
                  <a:srgbClr val="E63946"/>
                </a:solidFill>
                <a:latin typeface="Times New Roman" pitchFamily="34" charset="0"/>
                <a:ea typeface="Times New Roman" pitchFamily="34" charset="-122"/>
                <a:cs typeface="Times New Roman" pitchFamily="34" charset="-120"/>
              </a:rPr>
              <a:t>25 of 25 functional tests passing</a:t>
            </a:r>
            <a:endParaRPr lang="en-US" sz="1500" dirty="0"/>
          </a:p>
        </p:txBody>
      </p:sp>
      <p:sp>
        <p:nvSpPr>
          <p:cNvPr id="4" name="Shape 2"/>
          <p:cNvSpPr/>
          <p:nvPr/>
        </p:nvSpPr>
        <p:spPr>
          <a:xfrm>
            <a:off x="457200" y="1645920"/>
            <a:ext cx="3657600" cy="4114800"/>
          </a:xfrm>
          <a:prstGeom prst="roundRect">
            <a:avLst>
              <a:gd name="adj" fmla="val 3750"/>
            </a:avLst>
          </a:prstGeom>
          <a:solidFill>
            <a:srgbClr val="10B981"/>
          </a:solidFill>
          <a:ln/>
        </p:spPr>
      </p:sp>
      <p:sp>
        <p:nvSpPr>
          <p:cNvPr id="5" name="Text 3"/>
          <p:cNvSpPr/>
          <p:nvPr/>
        </p:nvSpPr>
        <p:spPr>
          <a:xfrm>
            <a:off x="457200" y="2194560"/>
            <a:ext cx="3657600" cy="1645920"/>
          </a:xfrm>
          <a:prstGeom prst="rect">
            <a:avLst/>
          </a:prstGeom>
          <a:noFill/>
          <a:ln/>
        </p:spPr>
        <p:txBody>
          <a:bodyPr wrap="square" rtlCol="0" anchor="ctr"/>
          <a:lstStyle/>
          <a:p>
            <a:pPr algn="ctr" indent="0" marL="0">
              <a:buNone/>
            </a:pPr>
            <a:r>
              <a:rPr lang="en-US" sz="9600" b="1" dirty="0">
                <a:solidFill>
                  <a:srgbClr val="FFFFFF"/>
                </a:solidFill>
                <a:latin typeface="Times New Roman" pitchFamily="34" charset="0"/>
                <a:ea typeface="Times New Roman" pitchFamily="34" charset="-122"/>
                <a:cs typeface="Times New Roman" pitchFamily="34" charset="-120"/>
              </a:rPr>
              <a:t>25 / 25</a:t>
            </a:r>
            <a:endParaRPr lang="en-US" sz="9600" dirty="0"/>
          </a:p>
        </p:txBody>
      </p:sp>
      <p:sp>
        <p:nvSpPr>
          <p:cNvPr id="6" name="Text 4"/>
          <p:cNvSpPr/>
          <p:nvPr/>
        </p:nvSpPr>
        <p:spPr>
          <a:xfrm>
            <a:off x="457200" y="4206240"/>
            <a:ext cx="3657600" cy="457200"/>
          </a:xfrm>
          <a:prstGeom prst="rect">
            <a:avLst/>
          </a:prstGeom>
          <a:noFill/>
          <a:ln/>
        </p:spPr>
        <p:txBody>
          <a:bodyPr wrap="square" rtlCol="0" anchor="ctr"/>
          <a:lstStyle/>
          <a:p>
            <a:pPr algn="ctr" indent="0" marL="0">
              <a:buNone/>
            </a:pPr>
            <a:r>
              <a:rPr lang="en-US" sz="1800" dirty="0">
                <a:solidFill>
                  <a:srgbClr val="FFFFFF"/>
                </a:solidFill>
                <a:latin typeface="Times New Roman" pitchFamily="34" charset="0"/>
                <a:ea typeface="Times New Roman" pitchFamily="34" charset="-122"/>
                <a:cs typeface="Times New Roman" pitchFamily="34" charset="-120"/>
              </a:rPr>
              <a:t>Functional tests</a:t>
            </a:r>
            <a:endParaRPr lang="en-US" sz="1800" dirty="0"/>
          </a:p>
        </p:txBody>
      </p:sp>
      <p:sp>
        <p:nvSpPr>
          <p:cNvPr id="7" name="Text 5"/>
          <p:cNvSpPr/>
          <p:nvPr/>
        </p:nvSpPr>
        <p:spPr>
          <a:xfrm>
            <a:off x="457200" y="4754880"/>
            <a:ext cx="3657600" cy="457200"/>
          </a:xfrm>
          <a:prstGeom prst="rect">
            <a:avLst/>
          </a:prstGeom>
          <a:noFill/>
          <a:ln/>
        </p:spPr>
        <p:txBody>
          <a:bodyPr wrap="square"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All PASS</a:t>
            </a:r>
            <a:endParaRPr lang="en-US" sz="1800" dirty="0"/>
          </a:p>
        </p:txBody>
      </p:sp>
      <p:sp>
        <p:nvSpPr>
          <p:cNvPr id="8" name="Shape 6"/>
          <p:cNvSpPr/>
          <p:nvPr/>
        </p:nvSpPr>
        <p:spPr>
          <a:xfrm>
            <a:off x="4572000" y="1645920"/>
            <a:ext cx="3566160" cy="402336"/>
          </a:xfrm>
          <a:prstGeom prst="roundRect">
            <a:avLst>
              <a:gd name="adj" fmla="val 13636"/>
            </a:avLst>
          </a:prstGeom>
          <a:solidFill>
            <a:srgbClr val="FFFFFF"/>
          </a:solidFill>
          <a:ln w="6350">
            <a:solidFill>
              <a:srgbClr val="1E3AA0"/>
            </a:solidFill>
            <a:prstDash val="solid"/>
          </a:ln>
        </p:spPr>
      </p:sp>
      <p:sp>
        <p:nvSpPr>
          <p:cNvPr id="9" name="Text 7"/>
          <p:cNvSpPr/>
          <p:nvPr/>
        </p:nvSpPr>
        <p:spPr>
          <a:xfrm>
            <a:off x="4709160" y="1645920"/>
            <a:ext cx="2011680" cy="402336"/>
          </a:xfrm>
          <a:prstGeom prst="rect">
            <a:avLst/>
          </a:prstGeom>
          <a:noFill/>
          <a:ln/>
        </p:spPr>
        <p:txBody>
          <a:bodyPr wrap="square" rtlCol="0" anchor="ctr"/>
          <a:lstStyle/>
          <a:p>
            <a:pPr indent="0" marL="0">
              <a:buNone/>
            </a:pPr>
            <a:r>
              <a:rPr lang="en-US" sz="1200" b="1" dirty="0">
                <a:solidFill>
                  <a:srgbClr val="1E3AA0"/>
                </a:solidFill>
                <a:latin typeface="Times New Roman" pitchFamily="34" charset="0"/>
                <a:ea typeface="Times New Roman" pitchFamily="34" charset="-122"/>
                <a:cs typeface="Times New Roman" pitchFamily="34" charset="-120"/>
              </a:rPr>
              <a:t>Source files</a:t>
            </a:r>
            <a:endParaRPr lang="en-US" sz="1200" dirty="0"/>
          </a:p>
        </p:txBody>
      </p:sp>
      <p:sp>
        <p:nvSpPr>
          <p:cNvPr id="10" name="Text 8"/>
          <p:cNvSpPr/>
          <p:nvPr/>
        </p:nvSpPr>
        <p:spPr>
          <a:xfrm>
            <a:off x="6583680" y="1645920"/>
            <a:ext cx="1463040" cy="402336"/>
          </a:xfrm>
          <a:prstGeom prst="rect">
            <a:avLst/>
          </a:prstGeom>
          <a:noFill/>
          <a:ln/>
        </p:spPr>
        <p:txBody>
          <a:bodyPr wrap="square" rtlCol="0" anchor="ctr"/>
          <a:lstStyle/>
          <a:p>
            <a:pPr algn="r" indent="0" marL="0">
              <a:buNone/>
            </a:pPr>
            <a:r>
              <a:rPr lang="en-US" sz="1200" dirty="0">
                <a:solidFill>
                  <a:srgbClr val="1E293B"/>
                </a:solidFill>
                <a:latin typeface="Times New Roman" pitchFamily="34" charset="0"/>
                <a:ea typeface="Times New Roman" pitchFamily="34" charset="-122"/>
                <a:cs typeface="Times New Roman" pitchFamily="34" charset="-120"/>
              </a:rPr>
              <a:t>53</a:t>
            </a:r>
            <a:endParaRPr lang="en-US" sz="1200" dirty="0"/>
          </a:p>
        </p:txBody>
      </p:sp>
      <p:sp>
        <p:nvSpPr>
          <p:cNvPr id="11" name="Shape 9"/>
          <p:cNvSpPr/>
          <p:nvPr/>
        </p:nvSpPr>
        <p:spPr>
          <a:xfrm>
            <a:off x="4572000" y="2121408"/>
            <a:ext cx="3566160" cy="402336"/>
          </a:xfrm>
          <a:prstGeom prst="roundRect">
            <a:avLst>
              <a:gd name="adj" fmla="val 13636"/>
            </a:avLst>
          </a:prstGeom>
          <a:solidFill>
            <a:srgbClr val="FFFFFF"/>
          </a:solidFill>
          <a:ln w="6350">
            <a:solidFill>
              <a:srgbClr val="1E3AA0"/>
            </a:solidFill>
            <a:prstDash val="solid"/>
          </a:ln>
        </p:spPr>
      </p:sp>
      <p:sp>
        <p:nvSpPr>
          <p:cNvPr id="12" name="Text 10"/>
          <p:cNvSpPr/>
          <p:nvPr/>
        </p:nvSpPr>
        <p:spPr>
          <a:xfrm>
            <a:off x="4709160" y="2121408"/>
            <a:ext cx="2011680" cy="402336"/>
          </a:xfrm>
          <a:prstGeom prst="rect">
            <a:avLst/>
          </a:prstGeom>
          <a:noFill/>
          <a:ln/>
        </p:spPr>
        <p:txBody>
          <a:bodyPr wrap="square" rtlCol="0" anchor="ctr"/>
          <a:lstStyle/>
          <a:p>
            <a:pPr indent="0" marL="0">
              <a:buNone/>
            </a:pPr>
            <a:r>
              <a:rPr lang="en-US" sz="1200" b="1" dirty="0">
                <a:solidFill>
                  <a:srgbClr val="1E3AA0"/>
                </a:solidFill>
                <a:latin typeface="Times New Roman" pitchFamily="34" charset="0"/>
                <a:ea typeface="Times New Roman" pitchFamily="34" charset="-122"/>
                <a:cs typeface="Times New Roman" pitchFamily="34" charset="-120"/>
              </a:rPr>
              <a:t>Pages</a:t>
            </a:r>
            <a:endParaRPr lang="en-US" sz="1200" dirty="0"/>
          </a:p>
        </p:txBody>
      </p:sp>
      <p:sp>
        <p:nvSpPr>
          <p:cNvPr id="13" name="Text 11"/>
          <p:cNvSpPr/>
          <p:nvPr/>
        </p:nvSpPr>
        <p:spPr>
          <a:xfrm>
            <a:off x="6583680" y="2121408"/>
            <a:ext cx="1463040" cy="402336"/>
          </a:xfrm>
          <a:prstGeom prst="rect">
            <a:avLst/>
          </a:prstGeom>
          <a:noFill/>
          <a:ln/>
        </p:spPr>
        <p:txBody>
          <a:bodyPr wrap="square" rtlCol="0" anchor="ctr"/>
          <a:lstStyle/>
          <a:p>
            <a:pPr algn="r" indent="0" marL="0">
              <a:buNone/>
            </a:pPr>
            <a:r>
              <a:rPr lang="en-US" sz="1200" dirty="0">
                <a:solidFill>
                  <a:srgbClr val="1E293B"/>
                </a:solidFill>
                <a:latin typeface="Times New Roman" pitchFamily="34" charset="0"/>
                <a:ea typeface="Times New Roman" pitchFamily="34" charset="-122"/>
                <a:cs typeface="Times New Roman" pitchFamily="34" charset="-120"/>
              </a:rPr>
              <a:t>24</a:t>
            </a:r>
            <a:endParaRPr lang="en-US" sz="1200" dirty="0"/>
          </a:p>
        </p:txBody>
      </p:sp>
      <p:sp>
        <p:nvSpPr>
          <p:cNvPr id="14" name="Shape 12"/>
          <p:cNvSpPr/>
          <p:nvPr/>
        </p:nvSpPr>
        <p:spPr>
          <a:xfrm>
            <a:off x="4572000" y="2596896"/>
            <a:ext cx="3566160" cy="402336"/>
          </a:xfrm>
          <a:prstGeom prst="roundRect">
            <a:avLst>
              <a:gd name="adj" fmla="val 13636"/>
            </a:avLst>
          </a:prstGeom>
          <a:solidFill>
            <a:srgbClr val="FFFFFF"/>
          </a:solidFill>
          <a:ln w="6350">
            <a:solidFill>
              <a:srgbClr val="1E3AA0"/>
            </a:solidFill>
            <a:prstDash val="solid"/>
          </a:ln>
        </p:spPr>
      </p:sp>
      <p:sp>
        <p:nvSpPr>
          <p:cNvPr id="15" name="Text 13"/>
          <p:cNvSpPr/>
          <p:nvPr/>
        </p:nvSpPr>
        <p:spPr>
          <a:xfrm>
            <a:off x="4709160" y="2596896"/>
            <a:ext cx="2011680" cy="402336"/>
          </a:xfrm>
          <a:prstGeom prst="rect">
            <a:avLst/>
          </a:prstGeom>
          <a:noFill/>
          <a:ln/>
        </p:spPr>
        <p:txBody>
          <a:bodyPr wrap="square" rtlCol="0" anchor="ctr"/>
          <a:lstStyle/>
          <a:p>
            <a:pPr indent="0" marL="0">
              <a:buNone/>
            </a:pPr>
            <a:r>
              <a:rPr lang="en-US" sz="1200" b="1" dirty="0">
                <a:solidFill>
                  <a:srgbClr val="1E3AA0"/>
                </a:solidFill>
                <a:latin typeface="Times New Roman" pitchFamily="34" charset="0"/>
                <a:ea typeface="Times New Roman" pitchFamily="34" charset="-122"/>
                <a:cs typeface="Times New Roman" pitchFamily="34" charset="-120"/>
              </a:rPr>
              <a:t>Bundle size</a:t>
            </a:r>
            <a:endParaRPr lang="en-US" sz="1200" dirty="0"/>
          </a:p>
        </p:txBody>
      </p:sp>
      <p:sp>
        <p:nvSpPr>
          <p:cNvPr id="16" name="Text 14"/>
          <p:cNvSpPr/>
          <p:nvPr/>
        </p:nvSpPr>
        <p:spPr>
          <a:xfrm>
            <a:off x="6583680" y="2596896"/>
            <a:ext cx="1463040" cy="402336"/>
          </a:xfrm>
          <a:prstGeom prst="rect">
            <a:avLst/>
          </a:prstGeom>
          <a:noFill/>
          <a:ln/>
        </p:spPr>
        <p:txBody>
          <a:bodyPr wrap="square" rtlCol="0" anchor="ctr"/>
          <a:lstStyle/>
          <a:p>
            <a:pPr algn="r" indent="0" marL="0">
              <a:buNone/>
            </a:pPr>
            <a:r>
              <a:rPr lang="en-US" sz="1200" dirty="0">
                <a:solidFill>
                  <a:srgbClr val="1E293B"/>
                </a:solidFill>
                <a:latin typeface="Times New Roman" pitchFamily="34" charset="0"/>
                <a:ea typeface="Times New Roman" pitchFamily="34" charset="-122"/>
                <a:cs typeface="Times New Roman" pitchFamily="34" charset="-120"/>
              </a:rPr>
              <a:t>482 kB gzipped</a:t>
            </a:r>
            <a:endParaRPr lang="en-US" sz="1200" dirty="0"/>
          </a:p>
        </p:txBody>
      </p:sp>
      <p:sp>
        <p:nvSpPr>
          <p:cNvPr id="17" name="Shape 15"/>
          <p:cNvSpPr/>
          <p:nvPr/>
        </p:nvSpPr>
        <p:spPr>
          <a:xfrm>
            <a:off x="4572000" y="3072384"/>
            <a:ext cx="3566160" cy="402336"/>
          </a:xfrm>
          <a:prstGeom prst="roundRect">
            <a:avLst>
              <a:gd name="adj" fmla="val 13636"/>
            </a:avLst>
          </a:prstGeom>
          <a:solidFill>
            <a:srgbClr val="FFFFFF"/>
          </a:solidFill>
          <a:ln w="6350">
            <a:solidFill>
              <a:srgbClr val="1E3AA0"/>
            </a:solidFill>
            <a:prstDash val="solid"/>
          </a:ln>
        </p:spPr>
      </p:sp>
      <p:sp>
        <p:nvSpPr>
          <p:cNvPr id="18" name="Text 16"/>
          <p:cNvSpPr/>
          <p:nvPr/>
        </p:nvSpPr>
        <p:spPr>
          <a:xfrm>
            <a:off x="4709160" y="3072384"/>
            <a:ext cx="2011680" cy="402336"/>
          </a:xfrm>
          <a:prstGeom prst="rect">
            <a:avLst/>
          </a:prstGeom>
          <a:noFill/>
          <a:ln/>
        </p:spPr>
        <p:txBody>
          <a:bodyPr wrap="square" rtlCol="0" anchor="ctr"/>
          <a:lstStyle/>
          <a:p>
            <a:pPr indent="0" marL="0">
              <a:buNone/>
            </a:pPr>
            <a:r>
              <a:rPr lang="en-US" sz="1200" b="1" dirty="0">
                <a:solidFill>
                  <a:srgbClr val="1E3AA0"/>
                </a:solidFill>
                <a:latin typeface="Times New Roman" pitchFamily="34" charset="0"/>
                <a:ea typeface="Times New Roman" pitchFamily="34" charset="-122"/>
                <a:cs typeface="Times New Roman" pitchFamily="34" charset="-120"/>
              </a:rPr>
              <a:t>Lighthouse Performance</a:t>
            </a:r>
            <a:endParaRPr lang="en-US" sz="1200" dirty="0"/>
          </a:p>
        </p:txBody>
      </p:sp>
      <p:sp>
        <p:nvSpPr>
          <p:cNvPr id="19" name="Text 17"/>
          <p:cNvSpPr/>
          <p:nvPr/>
        </p:nvSpPr>
        <p:spPr>
          <a:xfrm>
            <a:off x="6583680" y="3072384"/>
            <a:ext cx="1463040" cy="402336"/>
          </a:xfrm>
          <a:prstGeom prst="rect">
            <a:avLst/>
          </a:prstGeom>
          <a:noFill/>
          <a:ln/>
        </p:spPr>
        <p:txBody>
          <a:bodyPr wrap="square" rtlCol="0" anchor="ctr"/>
          <a:lstStyle/>
          <a:p>
            <a:pPr algn="r" indent="0" marL="0">
              <a:buNone/>
            </a:pPr>
            <a:r>
              <a:rPr lang="en-US" sz="1200" dirty="0">
                <a:solidFill>
                  <a:srgbClr val="1E293B"/>
                </a:solidFill>
                <a:latin typeface="Times New Roman" pitchFamily="34" charset="0"/>
                <a:ea typeface="Times New Roman" pitchFamily="34" charset="-122"/>
                <a:cs typeface="Times New Roman" pitchFamily="34" charset="-120"/>
              </a:rPr>
              <a:t>92</a:t>
            </a:r>
            <a:endParaRPr lang="en-US" sz="1200" dirty="0"/>
          </a:p>
        </p:txBody>
      </p:sp>
      <p:sp>
        <p:nvSpPr>
          <p:cNvPr id="20" name="Shape 18"/>
          <p:cNvSpPr/>
          <p:nvPr/>
        </p:nvSpPr>
        <p:spPr>
          <a:xfrm>
            <a:off x="4572000" y="3547872"/>
            <a:ext cx="3566160" cy="402336"/>
          </a:xfrm>
          <a:prstGeom prst="roundRect">
            <a:avLst>
              <a:gd name="adj" fmla="val 13636"/>
            </a:avLst>
          </a:prstGeom>
          <a:solidFill>
            <a:srgbClr val="FFFFFF"/>
          </a:solidFill>
          <a:ln w="6350">
            <a:solidFill>
              <a:srgbClr val="1E3AA0"/>
            </a:solidFill>
            <a:prstDash val="solid"/>
          </a:ln>
        </p:spPr>
      </p:sp>
      <p:sp>
        <p:nvSpPr>
          <p:cNvPr id="21" name="Text 19"/>
          <p:cNvSpPr/>
          <p:nvPr/>
        </p:nvSpPr>
        <p:spPr>
          <a:xfrm>
            <a:off x="4709160" y="3547872"/>
            <a:ext cx="2011680" cy="402336"/>
          </a:xfrm>
          <a:prstGeom prst="rect">
            <a:avLst/>
          </a:prstGeom>
          <a:noFill/>
          <a:ln/>
        </p:spPr>
        <p:txBody>
          <a:bodyPr wrap="square" rtlCol="0" anchor="ctr"/>
          <a:lstStyle/>
          <a:p>
            <a:pPr indent="0" marL="0">
              <a:buNone/>
            </a:pPr>
            <a:r>
              <a:rPr lang="en-US" sz="1200" b="1" dirty="0">
                <a:solidFill>
                  <a:srgbClr val="1E3AA0"/>
                </a:solidFill>
                <a:latin typeface="Times New Roman" pitchFamily="34" charset="0"/>
                <a:ea typeface="Times New Roman" pitchFamily="34" charset="-122"/>
                <a:cs typeface="Times New Roman" pitchFamily="34" charset="-120"/>
              </a:rPr>
              <a:t>Lighthouse Accessibility</a:t>
            </a:r>
            <a:endParaRPr lang="en-US" sz="1200" dirty="0"/>
          </a:p>
        </p:txBody>
      </p:sp>
      <p:sp>
        <p:nvSpPr>
          <p:cNvPr id="22" name="Text 20"/>
          <p:cNvSpPr/>
          <p:nvPr/>
        </p:nvSpPr>
        <p:spPr>
          <a:xfrm>
            <a:off x="6583680" y="3547872"/>
            <a:ext cx="1463040" cy="402336"/>
          </a:xfrm>
          <a:prstGeom prst="rect">
            <a:avLst/>
          </a:prstGeom>
          <a:noFill/>
          <a:ln/>
        </p:spPr>
        <p:txBody>
          <a:bodyPr wrap="square" rtlCol="0" anchor="ctr"/>
          <a:lstStyle/>
          <a:p>
            <a:pPr algn="r" indent="0" marL="0">
              <a:buNone/>
            </a:pPr>
            <a:r>
              <a:rPr lang="en-US" sz="1200" dirty="0">
                <a:solidFill>
                  <a:srgbClr val="1E293B"/>
                </a:solidFill>
                <a:latin typeface="Times New Roman" pitchFamily="34" charset="0"/>
                <a:ea typeface="Times New Roman" pitchFamily="34" charset="-122"/>
                <a:cs typeface="Times New Roman" pitchFamily="34" charset="-120"/>
              </a:rPr>
              <a:t>96</a:t>
            </a:r>
            <a:endParaRPr lang="en-US" sz="1200" dirty="0"/>
          </a:p>
        </p:txBody>
      </p:sp>
      <p:sp>
        <p:nvSpPr>
          <p:cNvPr id="23" name="Shape 21"/>
          <p:cNvSpPr/>
          <p:nvPr/>
        </p:nvSpPr>
        <p:spPr>
          <a:xfrm>
            <a:off x="8412480" y="1645920"/>
            <a:ext cx="3566160" cy="402336"/>
          </a:xfrm>
          <a:prstGeom prst="roundRect">
            <a:avLst>
              <a:gd name="adj" fmla="val 13636"/>
            </a:avLst>
          </a:prstGeom>
          <a:solidFill>
            <a:srgbClr val="FFFFFF"/>
          </a:solidFill>
          <a:ln w="6350">
            <a:solidFill>
              <a:srgbClr val="1E3AA0"/>
            </a:solidFill>
            <a:prstDash val="solid"/>
          </a:ln>
        </p:spPr>
      </p:sp>
      <p:sp>
        <p:nvSpPr>
          <p:cNvPr id="24" name="Text 22"/>
          <p:cNvSpPr/>
          <p:nvPr/>
        </p:nvSpPr>
        <p:spPr>
          <a:xfrm>
            <a:off x="8549640" y="1645920"/>
            <a:ext cx="2011680" cy="402336"/>
          </a:xfrm>
          <a:prstGeom prst="rect">
            <a:avLst/>
          </a:prstGeom>
          <a:noFill/>
          <a:ln/>
        </p:spPr>
        <p:txBody>
          <a:bodyPr wrap="square" rtlCol="0" anchor="ctr"/>
          <a:lstStyle/>
          <a:p>
            <a:pPr indent="0" marL="0">
              <a:buNone/>
            </a:pPr>
            <a:r>
              <a:rPr lang="en-US" sz="1200" b="1" dirty="0">
                <a:solidFill>
                  <a:srgbClr val="1E3AA0"/>
                </a:solidFill>
                <a:latin typeface="Times New Roman" pitchFamily="34" charset="0"/>
                <a:ea typeface="Times New Roman" pitchFamily="34" charset="-122"/>
                <a:cs typeface="Times New Roman" pitchFamily="34" charset="-120"/>
              </a:rPr>
              <a:t>Lighthouse Best Practices</a:t>
            </a:r>
            <a:endParaRPr lang="en-US" sz="1200" dirty="0"/>
          </a:p>
        </p:txBody>
      </p:sp>
      <p:sp>
        <p:nvSpPr>
          <p:cNvPr id="25" name="Text 23"/>
          <p:cNvSpPr/>
          <p:nvPr/>
        </p:nvSpPr>
        <p:spPr>
          <a:xfrm>
            <a:off x="10424160" y="1645920"/>
            <a:ext cx="1463040" cy="402336"/>
          </a:xfrm>
          <a:prstGeom prst="rect">
            <a:avLst/>
          </a:prstGeom>
          <a:noFill/>
          <a:ln/>
        </p:spPr>
        <p:txBody>
          <a:bodyPr wrap="square" rtlCol="0" anchor="ctr"/>
          <a:lstStyle/>
          <a:p>
            <a:pPr algn="r" indent="0" marL="0">
              <a:buNone/>
            </a:pPr>
            <a:r>
              <a:rPr lang="en-US" sz="1200" dirty="0">
                <a:solidFill>
                  <a:srgbClr val="1E293B"/>
                </a:solidFill>
                <a:latin typeface="Times New Roman" pitchFamily="34" charset="0"/>
                <a:ea typeface="Times New Roman" pitchFamily="34" charset="-122"/>
                <a:cs typeface="Times New Roman" pitchFamily="34" charset="-120"/>
              </a:rPr>
              <a:t>100</a:t>
            </a:r>
            <a:endParaRPr lang="en-US" sz="1200" dirty="0"/>
          </a:p>
        </p:txBody>
      </p:sp>
      <p:sp>
        <p:nvSpPr>
          <p:cNvPr id="26" name="Shape 24"/>
          <p:cNvSpPr/>
          <p:nvPr/>
        </p:nvSpPr>
        <p:spPr>
          <a:xfrm>
            <a:off x="8412480" y="2121408"/>
            <a:ext cx="3566160" cy="402336"/>
          </a:xfrm>
          <a:prstGeom prst="roundRect">
            <a:avLst>
              <a:gd name="adj" fmla="val 13636"/>
            </a:avLst>
          </a:prstGeom>
          <a:solidFill>
            <a:srgbClr val="FFFFFF"/>
          </a:solidFill>
          <a:ln w="6350">
            <a:solidFill>
              <a:srgbClr val="1E3AA0"/>
            </a:solidFill>
            <a:prstDash val="solid"/>
          </a:ln>
        </p:spPr>
      </p:sp>
      <p:sp>
        <p:nvSpPr>
          <p:cNvPr id="27" name="Text 25"/>
          <p:cNvSpPr/>
          <p:nvPr/>
        </p:nvSpPr>
        <p:spPr>
          <a:xfrm>
            <a:off x="8549640" y="2121408"/>
            <a:ext cx="2011680" cy="402336"/>
          </a:xfrm>
          <a:prstGeom prst="rect">
            <a:avLst/>
          </a:prstGeom>
          <a:noFill/>
          <a:ln/>
        </p:spPr>
        <p:txBody>
          <a:bodyPr wrap="square" rtlCol="0" anchor="ctr"/>
          <a:lstStyle/>
          <a:p>
            <a:pPr indent="0" marL="0">
              <a:buNone/>
            </a:pPr>
            <a:r>
              <a:rPr lang="en-US" sz="1200" b="1" dirty="0">
                <a:solidFill>
                  <a:srgbClr val="1E3AA0"/>
                </a:solidFill>
                <a:latin typeface="Times New Roman" pitchFamily="34" charset="0"/>
                <a:ea typeface="Times New Roman" pitchFamily="34" charset="-122"/>
                <a:cs typeface="Times New Roman" pitchFamily="34" charset="-120"/>
              </a:rPr>
              <a:t>Lighthouse SEO</a:t>
            </a:r>
            <a:endParaRPr lang="en-US" sz="1200" dirty="0"/>
          </a:p>
        </p:txBody>
      </p:sp>
      <p:sp>
        <p:nvSpPr>
          <p:cNvPr id="28" name="Text 26"/>
          <p:cNvSpPr/>
          <p:nvPr/>
        </p:nvSpPr>
        <p:spPr>
          <a:xfrm>
            <a:off x="10424160" y="2121408"/>
            <a:ext cx="1463040" cy="402336"/>
          </a:xfrm>
          <a:prstGeom prst="rect">
            <a:avLst/>
          </a:prstGeom>
          <a:noFill/>
          <a:ln/>
        </p:spPr>
        <p:txBody>
          <a:bodyPr wrap="square" rtlCol="0" anchor="ctr"/>
          <a:lstStyle/>
          <a:p>
            <a:pPr algn="r" indent="0" marL="0">
              <a:buNone/>
            </a:pPr>
            <a:r>
              <a:rPr lang="en-US" sz="1200" dirty="0">
                <a:solidFill>
                  <a:srgbClr val="1E293B"/>
                </a:solidFill>
                <a:latin typeface="Times New Roman" pitchFamily="34" charset="0"/>
                <a:ea typeface="Times New Roman" pitchFamily="34" charset="-122"/>
                <a:cs typeface="Times New Roman" pitchFamily="34" charset="-120"/>
              </a:rPr>
              <a:t>100</a:t>
            </a:r>
            <a:endParaRPr lang="en-US" sz="1200" dirty="0"/>
          </a:p>
        </p:txBody>
      </p:sp>
      <p:sp>
        <p:nvSpPr>
          <p:cNvPr id="29" name="Shape 27"/>
          <p:cNvSpPr/>
          <p:nvPr/>
        </p:nvSpPr>
        <p:spPr>
          <a:xfrm>
            <a:off x="8412480" y="2596896"/>
            <a:ext cx="3566160" cy="402336"/>
          </a:xfrm>
          <a:prstGeom prst="roundRect">
            <a:avLst>
              <a:gd name="adj" fmla="val 13636"/>
            </a:avLst>
          </a:prstGeom>
          <a:solidFill>
            <a:srgbClr val="FFFFFF"/>
          </a:solidFill>
          <a:ln w="6350">
            <a:solidFill>
              <a:srgbClr val="1E3AA0"/>
            </a:solidFill>
            <a:prstDash val="solid"/>
          </a:ln>
        </p:spPr>
      </p:sp>
      <p:sp>
        <p:nvSpPr>
          <p:cNvPr id="30" name="Text 28"/>
          <p:cNvSpPr/>
          <p:nvPr/>
        </p:nvSpPr>
        <p:spPr>
          <a:xfrm>
            <a:off x="8549640" y="2596896"/>
            <a:ext cx="2011680" cy="402336"/>
          </a:xfrm>
          <a:prstGeom prst="rect">
            <a:avLst/>
          </a:prstGeom>
          <a:noFill/>
          <a:ln/>
        </p:spPr>
        <p:txBody>
          <a:bodyPr wrap="square" rtlCol="0" anchor="ctr"/>
          <a:lstStyle/>
          <a:p>
            <a:pPr indent="0" marL="0">
              <a:buNone/>
            </a:pPr>
            <a:r>
              <a:rPr lang="en-US" sz="1200" b="1" dirty="0">
                <a:solidFill>
                  <a:srgbClr val="1E3AA0"/>
                </a:solidFill>
                <a:latin typeface="Times New Roman" pitchFamily="34" charset="0"/>
                <a:ea typeface="Times New Roman" pitchFamily="34" charset="-122"/>
                <a:cs typeface="Times New Roman" pitchFamily="34" charset="-120"/>
              </a:rPr>
              <a:t>Payment channels simulated</a:t>
            </a:r>
            <a:endParaRPr lang="en-US" sz="1200" dirty="0"/>
          </a:p>
        </p:txBody>
      </p:sp>
      <p:sp>
        <p:nvSpPr>
          <p:cNvPr id="31" name="Text 29"/>
          <p:cNvSpPr/>
          <p:nvPr/>
        </p:nvSpPr>
        <p:spPr>
          <a:xfrm>
            <a:off x="10424160" y="2596896"/>
            <a:ext cx="1463040" cy="402336"/>
          </a:xfrm>
          <a:prstGeom prst="rect">
            <a:avLst/>
          </a:prstGeom>
          <a:noFill/>
          <a:ln/>
        </p:spPr>
        <p:txBody>
          <a:bodyPr wrap="square" rtlCol="0" anchor="ctr"/>
          <a:lstStyle/>
          <a:p>
            <a:pPr algn="r" indent="0" marL="0">
              <a:buNone/>
            </a:pPr>
            <a:r>
              <a:rPr lang="en-US" sz="1200" dirty="0">
                <a:solidFill>
                  <a:srgbClr val="1E293B"/>
                </a:solidFill>
                <a:latin typeface="Times New Roman" pitchFamily="34" charset="0"/>
                <a:ea typeface="Times New Roman" pitchFamily="34" charset="-122"/>
                <a:cs typeface="Times New Roman" pitchFamily="34" charset="-120"/>
              </a:rPr>
              <a:t>5</a:t>
            </a:r>
            <a:endParaRPr lang="en-US" sz="1200" dirty="0"/>
          </a:p>
        </p:txBody>
      </p:sp>
      <p:sp>
        <p:nvSpPr>
          <p:cNvPr id="32" name="Shape 30"/>
          <p:cNvSpPr/>
          <p:nvPr/>
        </p:nvSpPr>
        <p:spPr>
          <a:xfrm>
            <a:off x="8412480" y="3072384"/>
            <a:ext cx="3566160" cy="402336"/>
          </a:xfrm>
          <a:prstGeom prst="roundRect">
            <a:avLst>
              <a:gd name="adj" fmla="val 13636"/>
            </a:avLst>
          </a:prstGeom>
          <a:solidFill>
            <a:srgbClr val="FFFFFF"/>
          </a:solidFill>
          <a:ln w="6350">
            <a:solidFill>
              <a:srgbClr val="1E3AA0"/>
            </a:solidFill>
            <a:prstDash val="solid"/>
          </a:ln>
        </p:spPr>
      </p:sp>
      <p:sp>
        <p:nvSpPr>
          <p:cNvPr id="33" name="Text 31"/>
          <p:cNvSpPr/>
          <p:nvPr/>
        </p:nvSpPr>
        <p:spPr>
          <a:xfrm>
            <a:off x="8549640" y="3072384"/>
            <a:ext cx="2011680" cy="402336"/>
          </a:xfrm>
          <a:prstGeom prst="rect">
            <a:avLst/>
          </a:prstGeom>
          <a:noFill/>
          <a:ln/>
        </p:spPr>
        <p:txBody>
          <a:bodyPr wrap="square" rtlCol="0" anchor="ctr"/>
          <a:lstStyle/>
          <a:p>
            <a:pPr indent="0" marL="0">
              <a:buNone/>
            </a:pPr>
            <a:r>
              <a:rPr lang="en-US" sz="1200" b="1" dirty="0">
                <a:solidFill>
                  <a:srgbClr val="1E3AA0"/>
                </a:solidFill>
                <a:latin typeface="Times New Roman" pitchFamily="34" charset="0"/>
                <a:ea typeface="Times New Roman" pitchFamily="34" charset="-122"/>
                <a:cs typeface="Times New Roman" pitchFamily="34" charset="-120"/>
              </a:rPr>
              <a:t>QR verifiable artefacts</a:t>
            </a:r>
            <a:endParaRPr lang="en-US" sz="1200" dirty="0"/>
          </a:p>
        </p:txBody>
      </p:sp>
      <p:sp>
        <p:nvSpPr>
          <p:cNvPr id="34" name="Text 32"/>
          <p:cNvSpPr/>
          <p:nvPr/>
        </p:nvSpPr>
        <p:spPr>
          <a:xfrm>
            <a:off x="10424160" y="3072384"/>
            <a:ext cx="1463040" cy="402336"/>
          </a:xfrm>
          <a:prstGeom prst="rect">
            <a:avLst/>
          </a:prstGeom>
          <a:noFill/>
          <a:ln/>
        </p:spPr>
        <p:txBody>
          <a:bodyPr wrap="square" rtlCol="0" anchor="ctr"/>
          <a:lstStyle/>
          <a:p>
            <a:pPr algn="r" indent="0" marL="0">
              <a:buNone/>
            </a:pPr>
            <a:r>
              <a:rPr lang="en-US" sz="1200" dirty="0">
                <a:solidFill>
                  <a:srgbClr val="1E293B"/>
                </a:solidFill>
                <a:latin typeface="Times New Roman" pitchFamily="34" charset="0"/>
                <a:ea typeface="Times New Roman" pitchFamily="34" charset="-122"/>
                <a:cs typeface="Times New Roman" pitchFamily="34" charset="-120"/>
              </a:rPr>
              <a:t>4</a:t>
            </a:r>
            <a:endParaRPr lang="en-US" sz="1200" dirty="0"/>
          </a:p>
        </p:txBody>
      </p:sp>
      <p:sp>
        <p:nvSpPr>
          <p:cNvPr id="35" name="Text 33"/>
          <p:cNvSpPr/>
          <p:nvPr/>
        </p:nvSpPr>
        <p:spPr>
          <a:xfrm>
            <a:off x="457200" y="6035040"/>
            <a:ext cx="11247120" cy="320040"/>
          </a:xfrm>
          <a:prstGeom prst="rect">
            <a:avLst/>
          </a:prstGeom>
          <a:noFill/>
          <a:ln/>
        </p:spPr>
        <p:txBody>
          <a:bodyPr wrap="square" rtlCol="0" anchor="ctr"/>
          <a:lstStyle/>
          <a:p>
            <a:pPr algn="ctr" indent="0" marL="0">
              <a:buNone/>
            </a:pPr>
            <a:r>
              <a:rPr lang="en-US" sz="1200" i="1" dirty="0">
                <a:solidFill>
                  <a:srgbClr val="64748B"/>
                </a:solidFill>
                <a:latin typeface="Times New Roman" pitchFamily="34" charset="0"/>
                <a:ea typeface="Times New Roman" pitchFamily="34" charset="-122"/>
                <a:cs typeface="Times New Roman" pitchFamily="34" charset="-120"/>
              </a:rPr>
              <a:t>All functional requirements implemented and tested across Chrome, Firefox, Edge, and Safari.</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indent="0" marL="0">
              <a:buNone/>
            </a:pPr>
            <a:r>
              <a:rPr lang="en-US" sz="3200" b="1" dirty="0">
                <a:solidFill>
                  <a:srgbClr val="1E3AA0"/>
                </a:solidFill>
                <a:latin typeface="Times New Roman" pitchFamily="34" charset="0"/>
                <a:ea typeface="Times New Roman" pitchFamily="34" charset="-122"/>
                <a:cs typeface="Times New Roman" pitchFamily="34" charset="-120"/>
              </a:rPr>
              <a:t>Summary of Findings and Limitations</a:t>
            </a:r>
            <a:endParaRPr lang="en-US" sz="3200" dirty="0"/>
          </a:p>
        </p:txBody>
      </p:sp>
      <p:sp>
        <p:nvSpPr>
          <p:cNvPr id="3" name="Text 1"/>
          <p:cNvSpPr/>
          <p:nvPr/>
        </p:nvSpPr>
        <p:spPr>
          <a:xfrm>
            <a:off x="457200" y="960120"/>
            <a:ext cx="11247120" cy="365760"/>
          </a:xfrm>
          <a:prstGeom prst="rect">
            <a:avLst/>
          </a:prstGeom>
          <a:noFill/>
          <a:ln/>
        </p:spPr>
        <p:txBody>
          <a:bodyPr wrap="square" rtlCol="0" anchor="ctr"/>
          <a:lstStyle/>
          <a:p>
            <a:pPr indent="0" marL="0">
              <a:buNone/>
            </a:pPr>
            <a:r>
              <a:rPr lang="en-US" sz="1500" i="1" dirty="0">
                <a:solidFill>
                  <a:srgbClr val="E63946"/>
                </a:solidFill>
                <a:latin typeface="Times New Roman" pitchFamily="34" charset="0"/>
                <a:ea typeface="Times New Roman" pitchFamily="34" charset="-122"/>
                <a:cs typeface="Times New Roman" pitchFamily="34" charset="-120"/>
              </a:rPr>
              <a:t>Achievements and acknowledged constraints</a:t>
            </a:r>
            <a:endParaRPr lang="en-US" sz="1500" dirty="0"/>
          </a:p>
        </p:txBody>
      </p:sp>
      <p:sp>
        <p:nvSpPr>
          <p:cNvPr id="4" name="Shape 2"/>
          <p:cNvSpPr/>
          <p:nvPr/>
        </p:nvSpPr>
        <p:spPr>
          <a:xfrm>
            <a:off x="457200" y="1554480"/>
            <a:ext cx="109728" cy="3840480"/>
          </a:xfrm>
          <a:prstGeom prst="rect">
            <a:avLst/>
          </a:prstGeom>
          <a:solidFill>
            <a:srgbClr val="10B981"/>
          </a:solidFill>
          <a:ln/>
        </p:spPr>
      </p:sp>
      <p:sp>
        <p:nvSpPr>
          <p:cNvPr id="5" name="Text 3"/>
          <p:cNvSpPr/>
          <p:nvPr/>
        </p:nvSpPr>
        <p:spPr>
          <a:xfrm>
            <a:off x="731520" y="1554480"/>
            <a:ext cx="10789920" cy="365760"/>
          </a:xfrm>
          <a:prstGeom prst="rect">
            <a:avLst/>
          </a:prstGeom>
          <a:noFill/>
          <a:ln/>
        </p:spPr>
        <p:txBody>
          <a:bodyPr wrap="square" rtlCol="0" anchor="ctr"/>
          <a:lstStyle/>
          <a:p>
            <a:pPr indent="0" marL="0">
              <a:buNone/>
            </a:pPr>
            <a:r>
              <a:rPr lang="en-US" sz="1800" b="1" dirty="0">
                <a:solidFill>
                  <a:srgbClr val="10B981"/>
                </a:solidFill>
                <a:latin typeface="Times New Roman" pitchFamily="34" charset="0"/>
                <a:ea typeface="Times New Roman" pitchFamily="34" charset="-122"/>
                <a:cs typeface="Times New Roman" pitchFamily="34" charset="-120"/>
              </a:rPr>
              <a:t>SUMMARY OF FINDINGS</a:t>
            </a:r>
            <a:endParaRPr lang="en-US" sz="1800" dirty="0"/>
          </a:p>
        </p:txBody>
      </p:sp>
      <p:sp>
        <p:nvSpPr>
          <p:cNvPr id="6" name="Shape 4"/>
          <p:cNvSpPr/>
          <p:nvPr/>
        </p:nvSpPr>
        <p:spPr>
          <a:xfrm>
            <a:off x="777240" y="2057400"/>
            <a:ext cx="182880" cy="182880"/>
          </a:xfrm>
          <a:prstGeom prst="ellipse">
            <a:avLst/>
          </a:prstGeom>
          <a:solidFill>
            <a:srgbClr val="10B981"/>
          </a:solidFill>
          <a:ln/>
        </p:spPr>
      </p:sp>
      <p:sp>
        <p:nvSpPr>
          <p:cNvPr id="7" name="Text 5"/>
          <p:cNvSpPr/>
          <p:nvPr/>
        </p:nvSpPr>
        <p:spPr>
          <a:xfrm>
            <a:off x="1097280" y="2011680"/>
            <a:ext cx="10332720" cy="384048"/>
          </a:xfrm>
          <a:prstGeom prst="rect">
            <a:avLst/>
          </a:prstGeom>
          <a:noFill/>
          <a:ln/>
        </p:spPr>
        <p:txBody>
          <a:bodyPr wrap="square" rtlCol="0" anchor="ctr"/>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Workflow analysis confirmed six operational problems, all addressed by SIARM</a:t>
            </a:r>
            <a:endParaRPr lang="en-US" sz="1300" dirty="0"/>
          </a:p>
        </p:txBody>
      </p:sp>
      <p:sp>
        <p:nvSpPr>
          <p:cNvPr id="8" name="Shape 6"/>
          <p:cNvSpPr/>
          <p:nvPr/>
        </p:nvSpPr>
        <p:spPr>
          <a:xfrm>
            <a:off x="777240" y="2514600"/>
            <a:ext cx="182880" cy="182880"/>
          </a:xfrm>
          <a:prstGeom prst="ellipse">
            <a:avLst/>
          </a:prstGeom>
          <a:solidFill>
            <a:srgbClr val="10B981"/>
          </a:solidFill>
          <a:ln/>
        </p:spPr>
      </p:sp>
      <p:sp>
        <p:nvSpPr>
          <p:cNvPr id="9" name="Text 7"/>
          <p:cNvSpPr/>
          <p:nvPr/>
        </p:nvSpPr>
        <p:spPr>
          <a:xfrm>
            <a:off x="1097280" y="2468880"/>
            <a:ext cx="10332720" cy="384048"/>
          </a:xfrm>
          <a:prstGeom prst="rect">
            <a:avLst/>
          </a:prstGeom>
          <a:noFill/>
          <a:ln/>
        </p:spPr>
        <p:txBody>
          <a:bodyPr wrap="square" rtlCol="0" anchor="ctr"/>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Role aware architecture with five surfaces proved effective and intuitive</a:t>
            </a:r>
            <a:endParaRPr lang="en-US" sz="1300" dirty="0"/>
          </a:p>
        </p:txBody>
      </p:sp>
      <p:sp>
        <p:nvSpPr>
          <p:cNvPr id="10" name="Shape 8"/>
          <p:cNvSpPr/>
          <p:nvPr/>
        </p:nvSpPr>
        <p:spPr>
          <a:xfrm>
            <a:off x="777240" y="2971800"/>
            <a:ext cx="182880" cy="182880"/>
          </a:xfrm>
          <a:prstGeom prst="ellipse">
            <a:avLst/>
          </a:prstGeom>
          <a:solidFill>
            <a:srgbClr val="10B981"/>
          </a:solidFill>
          <a:ln/>
        </p:spPr>
      </p:sp>
      <p:sp>
        <p:nvSpPr>
          <p:cNvPr id="11" name="Text 9"/>
          <p:cNvSpPr/>
          <p:nvPr/>
        </p:nvSpPr>
        <p:spPr>
          <a:xfrm>
            <a:off x="1097280" y="2926080"/>
            <a:ext cx="10332720" cy="384048"/>
          </a:xfrm>
          <a:prstGeom prst="rect">
            <a:avLst/>
          </a:prstGeom>
          <a:noFill/>
          <a:ln/>
        </p:spPr>
        <p:txBody>
          <a:bodyPr wrap="square" rtlCol="0" anchor="ctr"/>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Five channel payment simulation demonstrated achievable mobile money integration</a:t>
            </a:r>
            <a:endParaRPr lang="en-US" sz="1300" dirty="0"/>
          </a:p>
        </p:txBody>
      </p:sp>
      <p:sp>
        <p:nvSpPr>
          <p:cNvPr id="12" name="Shape 10"/>
          <p:cNvSpPr/>
          <p:nvPr/>
        </p:nvSpPr>
        <p:spPr>
          <a:xfrm>
            <a:off x="777240" y="3429000"/>
            <a:ext cx="182880" cy="182880"/>
          </a:xfrm>
          <a:prstGeom prst="ellipse">
            <a:avLst/>
          </a:prstGeom>
          <a:solidFill>
            <a:srgbClr val="10B981"/>
          </a:solidFill>
          <a:ln/>
        </p:spPr>
      </p:sp>
      <p:sp>
        <p:nvSpPr>
          <p:cNvPr id="13" name="Text 11"/>
          <p:cNvSpPr/>
          <p:nvPr/>
        </p:nvSpPr>
        <p:spPr>
          <a:xfrm>
            <a:off x="1097280" y="3383280"/>
            <a:ext cx="10332720" cy="384048"/>
          </a:xfrm>
          <a:prstGeom prst="rect">
            <a:avLst/>
          </a:prstGeom>
          <a:noFill/>
          <a:ln/>
        </p:spPr>
        <p:txBody>
          <a:bodyPr wrap="square" rtlCol="0" anchor="ctr"/>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Offline capable PWA delivered acceptable performance (Lighthouse 92)</a:t>
            </a:r>
            <a:endParaRPr lang="en-US" sz="1300" dirty="0"/>
          </a:p>
        </p:txBody>
      </p:sp>
      <p:sp>
        <p:nvSpPr>
          <p:cNvPr id="14" name="Shape 12"/>
          <p:cNvSpPr/>
          <p:nvPr/>
        </p:nvSpPr>
        <p:spPr>
          <a:xfrm>
            <a:off x="777240" y="3886200"/>
            <a:ext cx="182880" cy="182880"/>
          </a:xfrm>
          <a:prstGeom prst="ellipse">
            <a:avLst/>
          </a:prstGeom>
          <a:solidFill>
            <a:srgbClr val="10B981"/>
          </a:solidFill>
          <a:ln/>
        </p:spPr>
      </p:sp>
      <p:sp>
        <p:nvSpPr>
          <p:cNvPr id="15" name="Text 13"/>
          <p:cNvSpPr/>
          <p:nvPr/>
        </p:nvSpPr>
        <p:spPr>
          <a:xfrm>
            <a:off x="1097280" y="3840480"/>
            <a:ext cx="10332720" cy="384048"/>
          </a:xfrm>
          <a:prstGeom prst="rect">
            <a:avLst/>
          </a:prstGeom>
          <a:noFill/>
          <a:ln/>
        </p:spPr>
        <p:txBody>
          <a:bodyPr wrap="square" rtlCol="0" anchor="ctr"/>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Automated enrolment pipeline creates six artefacts from one form submission</a:t>
            </a:r>
            <a:endParaRPr lang="en-US" sz="1300" dirty="0"/>
          </a:p>
        </p:txBody>
      </p:sp>
      <p:sp>
        <p:nvSpPr>
          <p:cNvPr id="16" name="Shape 14"/>
          <p:cNvSpPr/>
          <p:nvPr/>
        </p:nvSpPr>
        <p:spPr>
          <a:xfrm>
            <a:off x="777240" y="4343400"/>
            <a:ext cx="182880" cy="182880"/>
          </a:xfrm>
          <a:prstGeom prst="ellipse">
            <a:avLst/>
          </a:prstGeom>
          <a:solidFill>
            <a:srgbClr val="10B981"/>
          </a:solidFill>
          <a:ln/>
        </p:spPr>
      </p:sp>
      <p:sp>
        <p:nvSpPr>
          <p:cNvPr id="17" name="Text 15"/>
          <p:cNvSpPr/>
          <p:nvPr/>
        </p:nvSpPr>
        <p:spPr>
          <a:xfrm>
            <a:off x="1097280" y="4297680"/>
            <a:ext cx="10332720" cy="384048"/>
          </a:xfrm>
          <a:prstGeom prst="rect">
            <a:avLst/>
          </a:prstGeom>
          <a:noFill/>
          <a:ln/>
        </p:spPr>
        <p:txBody>
          <a:bodyPr wrap="square" rtlCol="0" anchor="ctr"/>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QR verifiable artefacts provide audit trail for academic documents</a:t>
            </a:r>
            <a:endParaRPr lang="en-US" sz="1300" dirty="0"/>
          </a:p>
        </p:txBody>
      </p:sp>
      <p:sp>
        <p:nvSpPr>
          <p:cNvPr id="18" name="Shape 16"/>
          <p:cNvSpPr/>
          <p:nvPr/>
        </p:nvSpPr>
        <p:spPr>
          <a:xfrm>
            <a:off x="457200" y="4663440"/>
            <a:ext cx="109728" cy="1645920"/>
          </a:xfrm>
          <a:prstGeom prst="rect">
            <a:avLst/>
          </a:prstGeom>
          <a:solidFill>
            <a:srgbClr val="E63946"/>
          </a:solidFill>
          <a:ln/>
        </p:spPr>
      </p:sp>
      <p:sp>
        <p:nvSpPr>
          <p:cNvPr id="19" name="Text 17"/>
          <p:cNvSpPr/>
          <p:nvPr/>
        </p:nvSpPr>
        <p:spPr>
          <a:xfrm>
            <a:off x="731520" y="4663440"/>
            <a:ext cx="10789920" cy="320040"/>
          </a:xfrm>
          <a:prstGeom prst="rect">
            <a:avLst/>
          </a:prstGeom>
          <a:noFill/>
          <a:ln/>
        </p:spPr>
        <p:txBody>
          <a:bodyPr wrap="square" rtlCol="0" anchor="ctr"/>
          <a:lstStyle/>
          <a:p>
            <a:pPr indent="0" marL="0">
              <a:buNone/>
            </a:pPr>
            <a:r>
              <a:rPr lang="en-US" sz="1800" b="1" dirty="0">
                <a:solidFill>
                  <a:srgbClr val="E63946"/>
                </a:solidFill>
                <a:latin typeface="Times New Roman" pitchFamily="34" charset="0"/>
                <a:ea typeface="Times New Roman" pitchFamily="34" charset="-122"/>
                <a:cs typeface="Times New Roman" pitchFamily="34" charset="-120"/>
              </a:rPr>
              <a:t>LIMITATIONS</a:t>
            </a:r>
            <a:endParaRPr lang="en-US" sz="1800" dirty="0"/>
          </a:p>
        </p:txBody>
      </p:sp>
      <p:sp>
        <p:nvSpPr>
          <p:cNvPr id="20" name="Shape 18"/>
          <p:cNvSpPr/>
          <p:nvPr/>
        </p:nvSpPr>
        <p:spPr>
          <a:xfrm>
            <a:off x="777240" y="5120640"/>
            <a:ext cx="137160" cy="137160"/>
          </a:xfrm>
          <a:prstGeom prst="rect">
            <a:avLst/>
          </a:prstGeom>
          <a:solidFill>
            <a:srgbClr val="E63946"/>
          </a:solidFill>
          <a:ln/>
        </p:spPr>
      </p:sp>
      <p:sp>
        <p:nvSpPr>
          <p:cNvPr id="21" name="Text 19"/>
          <p:cNvSpPr/>
          <p:nvPr/>
        </p:nvSpPr>
        <p:spPr>
          <a:xfrm>
            <a:off x="1097280" y="5029200"/>
            <a:ext cx="10332720" cy="347472"/>
          </a:xfrm>
          <a:prstGeom prst="rect">
            <a:avLst/>
          </a:prstGeom>
          <a:noFill/>
          <a:ln/>
        </p:spPr>
        <p:txBody>
          <a:bodyPr wrap="square" rtlCol="0" anchor="ctr"/>
          <a:lstStyle/>
          <a:p>
            <a:pPr indent="0" marL="0">
              <a:buNone/>
            </a:pPr>
            <a:r>
              <a:rPr lang="en-US" sz="1200" dirty="0">
                <a:solidFill>
                  <a:srgbClr val="1E293B"/>
                </a:solidFill>
                <a:latin typeface="Times New Roman" pitchFamily="34" charset="0"/>
                <a:ea typeface="Times New Roman" pitchFamily="34" charset="-122"/>
                <a:cs typeface="Times New Roman" pitchFamily="34" charset="-120"/>
              </a:rPr>
              <a:t>Chat uses simulated in memory messages (not real time WebSocket)</a:t>
            </a:r>
            <a:endParaRPr lang="en-US" sz="1200" dirty="0"/>
          </a:p>
        </p:txBody>
      </p:sp>
      <p:sp>
        <p:nvSpPr>
          <p:cNvPr id="22" name="Shape 20"/>
          <p:cNvSpPr/>
          <p:nvPr/>
        </p:nvSpPr>
        <p:spPr>
          <a:xfrm>
            <a:off x="777240" y="5504688"/>
            <a:ext cx="137160" cy="137160"/>
          </a:xfrm>
          <a:prstGeom prst="rect">
            <a:avLst/>
          </a:prstGeom>
          <a:solidFill>
            <a:srgbClr val="E63946"/>
          </a:solidFill>
          <a:ln/>
        </p:spPr>
      </p:sp>
      <p:sp>
        <p:nvSpPr>
          <p:cNvPr id="23" name="Text 21"/>
          <p:cNvSpPr/>
          <p:nvPr/>
        </p:nvSpPr>
        <p:spPr>
          <a:xfrm>
            <a:off x="1097280" y="5413248"/>
            <a:ext cx="10332720" cy="347472"/>
          </a:xfrm>
          <a:prstGeom prst="rect">
            <a:avLst/>
          </a:prstGeom>
          <a:noFill/>
          <a:ln/>
        </p:spPr>
        <p:txBody>
          <a:bodyPr wrap="square" rtlCol="0" anchor="ctr"/>
          <a:lstStyle/>
          <a:p>
            <a:pPr indent="0" marL="0">
              <a:buNone/>
            </a:pPr>
            <a:r>
              <a:rPr lang="en-US" sz="1200" dirty="0">
                <a:solidFill>
                  <a:srgbClr val="1E293B"/>
                </a:solidFill>
                <a:latin typeface="Times New Roman" pitchFamily="34" charset="0"/>
                <a:ea typeface="Times New Roman" pitchFamily="34" charset="-122"/>
                <a:cs typeface="Times New Roman" pitchFamily="34" charset="-120"/>
              </a:rPr>
              <a:t>Payment flows are front end simulations (not connected to provider APIs)</a:t>
            </a:r>
            <a:endParaRPr lang="en-US" sz="1200" dirty="0"/>
          </a:p>
        </p:txBody>
      </p:sp>
      <p:sp>
        <p:nvSpPr>
          <p:cNvPr id="24" name="Shape 22"/>
          <p:cNvSpPr/>
          <p:nvPr/>
        </p:nvSpPr>
        <p:spPr>
          <a:xfrm>
            <a:off x="777240" y="5888736"/>
            <a:ext cx="137160" cy="137160"/>
          </a:xfrm>
          <a:prstGeom prst="rect">
            <a:avLst/>
          </a:prstGeom>
          <a:solidFill>
            <a:srgbClr val="E63946"/>
          </a:solidFill>
          <a:ln/>
        </p:spPr>
      </p:sp>
      <p:sp>
        <p:nvSpPr>
          <p:cNvPr id="25" name="Text 23"/>
          <p:cNvSpPr/>
          <p:nvPr/>
        </p:nvSpPr>
        <p:spPr>
          <a:xfrm>
            <a:off x="1097280" y="5797296"/>
            <a:ext cx="10332720" cy="347472"/>
          </a:xfrm>
          <a:prstGeom prst="rect">
            <a:avLst/>
          </a:prstGeom>
          <a:noFill/>
          <a:ln/>
        </p:spPr>
        <p:txBody>
          <a:bodyPr wrap="square" rtlCol="0" anchor="ctr"/>
          <a:lstStyle/>
          <a:p>
            <a:pPr indent="0" marL="0">
              <a:buNone/>
            </a:pPr>
            <a:r>
              <a:rPr lang="en-US" sz="1200" dirty="0">
                <a:solidFill>
                  <a:srgbClr val="1E293B"/>
                </a:solidFill>
                <a:latin typeface="Times New Roman" pitchFamily="34" charset="0"/>
                <a:ea typeface="Times New Roman" pitchFamily="34" charset="-122"/>
                <a:cs typeface="Times New Roman" pitchFamily="34" charset="-120"/>
              </a:rPr>
              <a:t>Mock API returns static data (production backend required for persistence)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indent="0" marL="0">
              <a:buNone/>
            </a:pPr>
            <a:r>
              <a:rPr lang="en-US" sz="3200" b="1" dirty="0">
                <a:solidFill>
                  <a:srgbClr val="1E3AA0"/>
                </a:solidFill>
                <a:latin typeface="Times New Roman" pitchFamily="34" charset="0"/>
                <a:ea typeface="Times New Roman" pitchFamily="34" charset="-122"/>
                <a:cs typeface="Times New Roman" pitchFamily="34" charset="-120"/>
              </a:rPr>
              <a:t>Suggestions for Future Research</a:t>
            </a:r>
            <a:endParaRPr lang="en-US" sz="3200" dirty="0"/>
          </a:p>
        </p:txBody>
      </p:sp>
      <p:sp>
        <p:nvSpPr>
          <p:cNvPr id="3" name="Text 1"/>
          <p:cNvSpPr/>
          <p:nvPr/>
        </p:nvSpPr>
        <p:spPr>
          <a:xfrm>
            <a:off x="457200" y="960120"/>
            <a:ext cx="11247120" cy="365760"/>
          </a:xfrm>
          <a:prstGeom prst="rect">
            <a:avLst/>
          </a:prstGeom>
          <a:noFill/>
          <a:ln/>
        </p:spPr>
        <p:txBody>
          <a:bodyPr wrap="square" rtlCol="0" anchor="ctr"/>
          <a:lstStyle/>
          <a:p>
            <a:pPr indent="0" marL="0">
              <a:buNone/>
            </a:pPr>
            <a:r>
              <a:rPr lang="en-US" sz="1500" i="1" dirty="0">
                <a:solidFill>
                  <a:srgbClr val="E63946"/>
                </a:solidFill>
                <a:latin typeface="Times New Roman" pitchFamily="34" charset="0"/>
                <a:ea typeface="Times New Roman" pitchFamily="34" charset="-122"/>
                <a:cs typeface="Times New Roman" pitchFamily="34" charset="-120"/>
              </a:rPr>
              <a:t>Six directions beyond the bachelor defence</a:t>
            </a:r>
            <a:endParaRPr lang="en-US" sz="1500" dirty="0"/>
          </a:p>
        </p:txBody>
      </p:sp>
      <p:sp>
        <p:nvSpPr>
          <p:cNvPr id="4" name="Shape 2"/>
          <p:cNvSpPr/>
          <p:nvPr/>
        </p:nvSpPr>
        <p:spPr>
          <a:xfrm>
            <a:off x="548640" y="1645920"/>
            <a:ext cx="5394960" cy="1280160"/>
          </a:xfrm>
          <a:prstGeom prst="roundRect">
            <a:avLst>
              <a:gd name="adj" fmla="val 7143"/>
            </a:avLst>
          </a:prstGeom>
          <a:solidFill>
            <a:srgbClr val="FFFFFF"/>
          </a:solidFill>
          <a:ln w="12700">
            <a:solidFill>
              <a:srgbClr val="1E3AA0"/>
            </a:solidFill>
            <a:prstDash val="solid"/>
          </a:ln>
        </p:spPr>
      </p:sp>
      <p:sp>
        <p:nvSpPr>
          <p:cNvPr id="5" name="Shape 3"/>
          <p:cNvSpPr/>
          <p:nvPr/>
        </p:nvSpPr>
        <p:spPr>
          <a:xfrm>
            <a:off x="548640" y="1645920"/>
            <a:ext cx="457200" cy="1280160"/>
          </a:xfrm>
          <a:prstGeom prst="rect">
            <a:avLst/>
          </a:prstGeom>
          <a:solidFill>
            <a:srgbClr val="E63946"/>
          </a:solidFill>
          <a:ln/>
        </p:spPr>
      </p:sp>
      <p:sp>
        <p:nvSpPr>
          <p:cNvPr id="6" name="Text 4"/>
          <p:cNvSpPr/>
          <p:nvPr/>
        </p:nvSpPr>
        <p:spPr>
          <a:xfrm>
            <a:off x="1188720" y="1737360"/>
            <a:ext cx="4754880" cy="457200"/>
          </a:xfrm>
          <a:prstGeom prst="rect">
            <a:avLst/>
          </a:prstGeom>
          <a:noFill/>
          <a:ln/>
        </p:spPr>
        <p:txBody>
          <a:bodyPr wrap="square" rtlCol="0" anchor="ctr"/>
          <a:lstStyle/>
          <a:p>
            <a:pPr indent="0" marL="0">
              <a:buNone/>
            </a:pPr>
            <a:r>
              <a:rPr lang="en-US" sz="1600" b="1" dirty="0">
                <a:solidFill>
                  <a:srgbClr val="1E3AA0"/>
                </a:solidFill>
                <a:latin typeface="Times New Roman" pitchFamily="34" charset="0"/>
                <a:ea typeface="Times New Roman" pitchFamily="34" charset="-122"/>
                <a:cs typeface="Times New Roman" pitchFamily="34" charset="-120"/>
              </a:rPr>
              <a:t>Native Mobile Companions</a:t>
            </a:r>
            <a:endParaRPr lang="en-US" sz="1600" dirty="0"/>
          </a:p>
        </p:txBody>
      </p:sp>
      <p:sp>
        <p:nvSpPr>
          <p:cNvPr id="7" name="Text 5"/>
          <p:cNvSpPr/>
          <p:nvPr/>
        </p:nvSpPr>
        <p:spPr>
          <a:xfrm>
            <a:off x="1188720" y="2194560"/>
            <a:ext cx="4754880" cy="640080"/>
          </a:xfrm>
          <a:prstGeom prst="rect">
            <a:avLst/>
          </a:prstGeom>
          <a:noFill/>
          <a:ln/>
        </p:spPr>
        <p:txBody>
          <a:bodyPr wrap="square" rtlCol="0" anchor="ctr"/>
          <a:lstStyle/>
          <a:p>
            <a:pPr indent="0" marL="0">
              <a:buNone/>
            </a:pPr>
            <a:r>
              <a:rPr lang="en-US" sz="1200" dirty="0">
                <a:solidFill>
                  <a:srgbClr val="1E293B"/>
                </a:solidFill>
                <a:latin typeface="Times New Roman" pitchFamily="34" charset="0"/>
                <a:ea typeface="Times New Roman" pitchFamily="34" charset="-122"/>
                <a:cs typeface="Times New Roman" pitchFamily="34" charset="-120"/>
              </a:rPr>
              <a:t>Android and iOS apps sharing 80 percent code with the web platform, using React Native.</a:t>
            </a:r>
            <a:endParaRPr lang="en-US" sz="1200" dirty="0"/>
          </a:p>
        </p:txBody>
      </p:sp>
      <p:sp>
        <p:nvSpPr>
          <p:cNvPr id="8" name="Shape 6"/>
          <p:cNvSpPr/>
          <p:nvPr/>
        </p:nvSpPr>
        <p:spPr>
          <a:xfrm>
            <a:off x="6309360" y="1645920"/>
            <a:ext cx="5394960" cy="1280160"/>
          </a:xfrm>
          <a:prstGeom prst="roundRect">
            <a:avLst>
              <a:gd name="adj" fmla="val 7143"/>
            </a:avLst>
          </a:prstGeom>
          <a:solidFill>
            <a:srgbClr val="FFFFFF"/>
          </a:solidFill>
          <a:ln w="12700">
            <a:solidFill>
              <a:srgbClr val="1E3AA0"/>
            </a:solidFill>
            <a:prstDash val="solid"/>
          </a:ln>
        </p:spPr>
      </p:sp>
      <p:sp>
        <p:nvSpPr>
          <p:cNvPr id="9" name="Shape 7"/>
          <p:cNvSpPr/>
          <p:nvPr/>
        </p:nvSpPr>
        <p:spPr>
          <a:xfrm>
            <a:off x="6309360" y="1645920"/>
            <a:ext cx="457200" cy="1280160"/>
          </a:xfrm>
          <a:prstGeom prst="rect">
            <a:avLst/>
          </a:prstGeom>
          <a:solidFill>
            <a:srgbClr val="E63946"/>
          </a:solidFill>
          <a:ln/>
        </p:spPr>
      </p:sp>
      <p:sp>
        <p:nvSpPr>
          <p:cNvPr id="10" name="Text 8"/>
          <p:cNvSpPr/>
          <p:nvPr/>
        </p:nvSpPr>
        <p:spPr>
          <a:xfrm>
            <a:off x="6949440" y="1737360"/>
            <a:ext cx="4754880" cy="457200"/>
          </a:xfrm>
          <a:prstGeom prst="rect">
            <a:avLst/>
          </a:prstGeom>
          <a:noFill/>
          <a:ln/>
        </p:spPr>
        <p:txBody>
          <a:bodyPr wrap="square" rtlCol="0" anchor="ctr"/>
          <a:lstStyle/>
          <a:p>
            <a:pPr indent="0" marL="0">
              <a:buNone/>
            </a:pPr>
            <a:r>
              <a:rPr lang="en-US" sz="1600" b="1" dirty="0">
                <a:solidFill>
                  <a:srgbClr val="1E3AA0"/>
                </a:solidFill>
                <a:latin typeface="Times New Roman" pitchFamily="34" charset="0"/>
                <a:ea typeface="Times New Roman" pitchFamily="34" charset="-122"/>
                <a:cs typeface="Times New Roman" pitchFamily="34" charset="-120"/>
              </a:rPr>
              <a:t>Biometric Attendance</a:t>
            </a:r>
            <a:endParaRPr lang="en-US" sz="1600" dirty="0"/>
          </a:p>
        </p:txBody>
      </p:sp>
      <p:sp>
        <p:nvSpPr>
          <p:cNvPr id="11" name="Text 9"/>
          <p:cNvSpPr/>
          <p:nvPr/>
        </p:nvSpPr>
        <p:spPr>
          <a:xfrm>
            <a:off x="6949440" y="2194560"/>
            <a:ext cx="4754880" cy="640080"/>
          </a:xfrm>
          <a:prstGeom prst="rect">
            <a:avLst/>
          </a:prstGeom>
          <a:noFill/>
          <a:ln/>
        </p:spPr>
        <p:txBody>
          <a:bodyPr wrap="square" rtlCol="0" anchor="ctr"/>
          <a:lstStyle/>
          <a:p>
            <a:pPr indent="0" marL="0">
              <a:buNone/>
            </a:pPr>
            <a:r>
              <a:rPr lang="en-US" sz="1200" dirty="0">
                <a:solidFill>
                  <a:srgbClr val="1E293B"/>
                </a:solidFill>
                <a:latin typeface="Times New Roman" pitchFamily="34" charset="0"/>
                <a:ea typeface="Times New Roman" pitchFamily="34" charset="-122"/>
                <a:cs typeface="Times New Roman" pitchFamily="34" charset="-120"/>
              </a:rPr>
              <a:t>Fingerprint based roll call on Android phones to eliminate manual data entry and proxy attendance.</a:t>
            </a:r>
            <a:endParaRPr lang="en-US" sz="1200" dirty="0"/>
          </a:p>
        </p:txBody>
      </p:sp>
      <p:sp>
        <p:nvSpPr>
          <p:cNvPr id="12" name="Shape 10"/>
          <p:cNvSpPr/>
          <p:nvPr/>
        </p:nvSpPr>
        <p:spPr>
          <a:xfrm>
            <a:off x="548640" y="3200400"/>
            <a:ext cx="5394960" cy="1280160"/>
          </a:xfrm>
          <a:prstGeom prst="roundRect">
            <a:avLst>
              <a:gd name="adj" fmla="val 7143"/>
            </a:avLst>
          </a:prstGeom>
          <a:solidFill>
            <a:srgbClr val="FFFFFF"/>
          </a:solidFill>
          <a:ln w="12700">
            <a:solidFill>
              <a:srgbClr val="1E3AA0"/>
            </a:solidFill>
            <a:prstDash val="solid"/>
          </a:ln>
        </p:spPr>
      </p:sp>
      <p:sp>
        <p:nvSpPr>
          <p:cNvPr id="13" name="Shape 11"/>
          <p:cNvSpPr/>
          <p:nvPr/>
        </p:nvSpPr>
        <p:spPr>
          <a:xfrm>
            <a:off x="548640" y="3200400"/>
            <a:ext cx="457200" cy="1280160"/>
          </a:xfrm>
          <a:prstGeom prst="rect">
            <a:avLst/>
          </a:prstGeom>
          <a:solidFill>
            <a:srgbClr val="E63946"/>
          </a:solidFill>
          <a:ln/>
        </p:spPr>
      </p:sp>
      <p:sp>
        <p:nvSpPr>
          <p:cNvPr id="14" name="Text 12"/>
          <p:cNvSpPr/>
          <p:nvPr/>
        </p:nvSpPr>
        <p:spPr>
          <a:xfrm>
            <a:off x="1188720" y="3291840"/>
            <a:ext cx="4754880" cy="457200"/>
          </a:xfrm>
          <a:prstGeom prst="rect">
            <a:avLst/>
          </a:prstGeom>
          <a:noFill/>
          <a:ln/>
        </p:spPr>
        <p:txBody>
          <a:bodyPr wrap="square" rtlCol="0" anchor="ctr"/>
          <a:lstStyle/>
          <a:p>
            <a:pPr indent="0" marL="0">
              <a:buNone/>
            </a:pPr>
            <a:r>
              <a:rPr lang="en-US" sz="1600" b="1" dirty="0">
                <a:solidFill>
                  <a:srgbClr val="1E3AA0"/>
                </a:solidFill>
                <a:latin typeface="Times New Roman" pitchFamily="34" charset="0"/>
                <a:ea typeface="Times New Roman" pitchFamily="34" charset="-122"/>
                <a:cs typeface="Times New Roman" pitchFamily="34" charset="-120"/>
              </a:rPr>
              <a:t>Live Payment Integration</a:t>
            </a:r>
            <a:endParaRPr lang="en-US" sz="1600" dirty="0"/>
          </a:p>
        </p:txBody>
      </p:sp>
      <p:sp>
        <p:nvSpPr>
          <p:cNvPr id="15" name="Text 13"/>
          <p:cNvSpPr/>
          <p:nvPr/>
        </p:nvSpPr>
        <p:spPr>
          <a:xfrm>
            <a:off x="1188720" y="3749040"/>
            <a:ext cx="4754880" cy="640080"/>
          </a:xfrm>
          <a:prstGeom prst="rect">
            <a:avLst/>
          </a:prstGeom>
          <a:noFill/>
          <a:ln/>
        </p:spPr>
        <p:txBody>
          <a:bodyPr wrap="square" rtlCol="0" anchor="ctr"/>
          <a:lstStyle/>
          <a:p>
            <a:pPr indent="0" marL="0">
              <a:buNone/>
            </a:pPr>
            <a:r>
              <a:rPr lang="en-US" sz="1200" dirty="0">
                <a:solidFill>
                  <a:srgbClr val="1E293B"/>
                </a:solidFill>
                <a:latin typeface="Times New Roman" pitchFamily="34" charset="0"/>
                <a:ea typeface="Times New Roman" pitchFamily="34" charset="-122"/>
                <a:cs typeface="Times New Roman" pitchFamily="34" charset="-120"/>
              </a:rPr>
              <a:t>Wire simulated MoMo, OM, PayPal and Visa flows to real provider APIs once merchant accounts are provisioned.</a:t>
            </a:r>
            <a:endParaRPr lang="en-US" sz="1200" dirty="0"/>
          </a:p>
        </p:txBody>
      </p:sp>
      <p:sp>
        <p:nvSpPr>
          <p:cNvPr id="16" name="Shape 14"/>
          <p:cNvSpPr/>
          <p:nvPr/>
        </p:nvSpPr>
        <p:spPr>
          <a:xfrm>
            <a:off x="6309360" y="3200400"/>
            <a:ext cx="5394960" cy="1280160"/>
          </a:xfrm>
          <a:prstGeom prst="roundRect">
            <a:avLst>
              <a:gd name="adj" fmla="val 7143"/>
            </a:avLst>
          </a:prstGeom>
          <a:solidFill>
            <a:srgbClr val="FFFFFF"/>
          </a:solidFill>
          <a:ln w="12700">
            <a:solidFill>
              <a:srgbClr val="1E3AA0"/>
            </a:solidFill>
            <a:prstDash val="solid"/>
          </a:ln>
        </p:spPr>
      </p:sp>
      <p:sp>
        <p:nvSpPr>
          <p:cNvPr id="17" name="Shape 15"/>
          <p:cNvSpPr/>
          <p:nvPr/>
        </p:nvSpPr>
        <p:spPr>
          <a:xfrm>
            <a:off x="6309360" y="3200400"/>
            <a:ext cx="457200" cy="1280160"/>
          </a:xfrm>
          <a:prstGeom prst="rect">
            <a:avLst/>
          </a:prstGeom>
          <a:solidFill>
            <a:srgbClr val="E63946"/>
          </a:solidFill>
          <a:ln/>
        </p:spPr>
      </p:sp>
      <p:sp>
        <p:nvSpPr>
          <p:cNvPr id="18" name="Text 16"/>
          <p:cNvSpPr/>
          <p:nvPr/>
        </p:nvSpPr>
        <p:spPr>
          <a:xfrm>
            <a:off x="6949440" y="3291840"/>
            <a:ext cx="4754880" cy="457200"/>
          </a:xfrm>
          <a:prstGeom prst="rect">
            <a:avLst/>
          </a:prstGeom>
          <a:noFill/>
          <a:ln/>
        </p:spPr>
        <p:txBody>
          <a:bodyPr wrap="square" rtlCol="0" anchor="ctr"/>
          <a:lstStyle/>
          <a:p>
            <a:pPr indent="0" marL="0">
              <a:buNone/>
            </a:pPr>
            <a:r>
              <a:rPr lang="en-US" sz="1600" b="1" dirty="0">
                <a:solidFill>
                  <a:srgbClr val="1E3AA0"/>
                </a:solidFill>
                <a:latin typeface="Times New Roman" pitchFamily="34" charset="0"/>
                <a:ea typeface="Times New Roman" pitchFamily="34" charset="-122"/>
                <a:cs typeface="Times New Roman" pitchFamily="34" charset="-120"/>
              </a:rPr>
              <a:t>Multi Tenant SaaS</a:t>
            </a:r>
            <a:endParaRPr lang="en-US" sz="1600" dirty="0"/>
          </a:p>
        </p:txBody>
      </p:sp>
      <p:sp>
        <p:nvSpPr>
          <p:cNvPr id="19" name="Text 17"/>
          <p:cNvSpPr/>
          <p:nvPr/>
        </p:nvSpPr>
        <p:spPr>
          <a:xfrm>
            <a:off x="6949440" y="3749040"/>
            <a:ext cx="4754880" cy="640080"/>
          </a:xfrm>
          <a:prstGeom prst="rect">
            <a:avLst/>
          </a:prstGeom>
          <a:noFill/>
          <a:ln/>
        </p:spPr>
        <p:txBody>
          <a:bodyPr wrap="square" rtlCol="0" anchor="ctr"/>
          <a:lstStyle/>
          <a:p>
            <a:pPr indent="0" marL="0">
              <a:buNone/>
            </a:pPr>
            <a:r>
              <a:rPr lang="en-US" sz="1200" dirty="0">
                <a:solidFill>
                  <a:srgbClr val="1E293B"/>
                </a:solidFill>
                <a:latin typeface="Times New Roman" pitchFamily="34" charset="0"/>
                <a:ea typeface="Times New Roman" pitchFamily="34" charset="-122"/>
                <a:cs typeface="Times New Roman" pitchFamily="34" charset="-120"/>
              </a:rPr>
              <a:t>Support multiple universities on the same code base with per institution branding, fees, and timetables.</a:t>
            </a:r>
            <a:endParaRPr lang="en-US" sz="1200" dirty="0"/>
          </a:p>
        </p:txBody>
      </p:sp>
      <p:sp>
        <p:nvSpPr>
          <p:cNvPr id="20" name="Shape 18"/>
          <p:cNvSpPr/>
          <p:nvPr/>
        </p:nvSpPr>
        <p:spPr>
          <a:xfrm>
            <a:off x="548640" y="4754880"/>
            <a:ext cx="5394960" cy="1280160"/>
          </a:xfrm>
          <a:prstGeom prst="roundRect">
            <a:avLst>
              <a:gd name="adj" fmla="val 7143"/>
            </a:avLst>
          </a:prstGeom>
          <a:solidFill>
            <a:srgbClr val="FFFFFF"/>
          </a:solidFill>
          <a:ln w="12700">
            <a:solidFill>
              <a:srgbClr val="1E3AA0"/>
            </a:solidFill>
            <a:prstDash val="solid"/>
          </a:ln>
        </p:spPr>
      </p:sp>
      <p:sp>
        <p:nvSpPr>
          <p:cNvPr id="21" name="Shape 19"/>
          <p:cNvSpPr/>
          <p:nvPr/>
        </p:nvSpPr>
        <p:spPr>
          <a:xfrm>
            <a:off x="548640" y="4754880"/>
            <a:ext cx="457200" cy="1280160"/>
          </a:xfrm>
          <a:prstGeom prst="rect">
            <a:avLst/>
          </a:prstGeom>
          <a:solidFill>
            <a:srgbClr val="E63946"/>
          </a:solidFill>
          <a:ln/>
        </p:spPr>
      </p:sp>
      <p:sp>
        <p:nvSpPr>
          <p:cNvPr id="22" name="Text 20"/>
          <p:cNvSpPr/>
          <p:nvPr/>
        </p:nvSpPr>
        <p:spPr>
          <a:xfrm>
            <a:off x="1188720" y="4846320"/>
            <a:ext cx="4754880" cy="457200"/>
          </a:xfrm>
          <a:prstGeom prst="rect">
            <a:avLst/>
          </a:prstGeom>
          <a:noFill/>
          <a:ln/>
        </p:spPr>
        <p:txBody>
          <a:bodyPr wrap="square" rtlCol="0" anchor="ctr"/>
          <a:lstStyle/>
          <a:p>
            <a:pPr indent="0" marL="0">
              <a:buNone/>
            </a:pPr>
            <a:r>
              <a:rPr lang="en-US" sz="1600" b="1" dirty="0">
                <a:solidFill>
                  <a:srgbClr val="1E3AA0"/>
                </a:solidFill>
                <a:latin typeface="Times New Roman" pitchFamily="34" charset="0"/>
                <a:ea typeface="Times New Roman" pitchFamily="34" charset="-122"/>
                <a:cs typeface="Times New Roman" pitchFamily="34" charset="-120"/>
              </a:rPr>
              <a:t>Exam Scheduling</a:t>
            </a:r>
            <a:endParaRPr lang="en-US" sz="1600" dirty="0"/>
          </a:p>
        </p:txBody>
      </p:sp>
      <p:sp>
        <p:nvSpPr>
          <p:cNvPr id="23" name="Text 21"/>
          <p:cNvSpPr/>
          <p:nvPr/>
        </p:nvSpPr>
        <p:spPr>
          <a:xfrm>
            <a:off x="1188720" y="5303520"/>
            <a:ext cx="4754880" cy="640080"/>
          </a:xfrm>
          <a:prstGeom prst="rect">
            <a:avLst/>
          </a:prstGeom>
          <a:noFill/>
          <a:ln/>
        </p:spPr>
        <p:txBody>
          <a:bodyPr wrap="square" rtlCol="0" anchor="ctr"/>
          <a:lstStyle/>
          <a:p>
            <a:pPr indent="0" marL="0">
              <a:buNone/>
            </a:pPr>
            <a:r>
              <a:rPr lang="en-US" sz="1200" dirty="0">
                <a:solidFill>
                  <a:srgbClr val="1E293B"/>
                </a:solidFill>
                <a:latin typeface="Times New Roman" pitchFamily="34" charset="0"/>
                <a:ea typeface="Times New Roman" pitchFamily="34" charset="-122"/>
                <a:cs typeface="Times New Roman" pitchFamily="34" charset="-120"/>
              </a:rPr>
              <a:t>Automatic generation of clash free examination calendars with room and invigilator assignment.</a:t>
            </a:r>
            <a:endParaRPr lang="en-US" sz="1200" dirty="0"/>
          </a:p>
        </p:txBody>
      </p:sp>
      <p:sp>
        <p:nvSpPr>
          <p:cNvPr id="24" name="Shape 22"/>
          <p:cNvSpPr/>
          <p:nvPr/>
        </p:nvSpPr>
        <p:spPr>
          <a:xfrm>
            <a:off x="6309360" y="4754880"/>
            <a:ext cx="5394960" cy="1280160"/>
          </a:xfrm>
          <a:prstGeom prst="roundRect">
            <a:avLst>
              <a:gd name="adj" fmla="val 7143"/>
            </a:avLst>
          </a:prstGeom>
          <a:solidFill>
            <a:srgbClr val="FFFFFF"/>
          </a:solidFill>
          <a:ln w="12700">
            <a:solidFill>
              <a:srgbClr val="1E3AA0"/>
            </a:solidFill>
            <a:prstDash val="solid"/>
          </a:ln>
        </p:spPr>
      </p:sp>
      <p:sp>
        <p:nvSpPr>
          <p:cNvPr id="25" name="Shape 23"/>
          <p:cNvSpPr/>
          <p:nvPr/>
        </p:nvSpPr>
        <p:spPr>
          <a:xfrm>
            <a:off x="6309360" y="4754880"/>
            <a:ext cx="457200" cy="1280160"/>
          </a:xfrm>
          <a:prstGeom prst="rect">
            <a:avLst/>
          </a:prstGeom>
          <a:solidFill>
            <a:srgbClr val="E63946"/>
          </a:solidFill>
          <a:ln/>
        </p:spPr>
      </p:sp>
      <p:sp>
        <p:nvSpPr>
          <p:cNvPr id="26" name="Text 24"/>
          <p:cNvSpPr/>
          <p:nvPr/>
        </p:nvSpPr>
        <p:spPr>
          <a:xfrm>
            <a:off x="6949440" y="4846320"/>
            <a:ext cx="4754880" cy="457200"/>
          </a:xfrm>
          <a:prstGeom prst="rect">
            <a:avLst/>
          </a:prstGeom>
          <a:noFill/>
          <a:ln/>
        </p:spPr>
        <p:txBody>
          <a:bodyPr wrap="square" rtlCol="0" anchor="ctr"/>
          <a:lstStyle/>
          <a:p>
            <a:pPr indent="0" marL="0">
              <a:buNone/>
            </a:pPr>
            <a:r>
              <a:rPr lang="en-US" sz="1600" b="1" dirty="0">
                <a:solidFill>
                  <a:srgbClr val="1E3AA0"/>
                </a:solidFill>
                <a:latin typeface="Times New Roman" pitchFamily="34" charset="0"/>
                <a:ea typeface="Times New Roman" pitchFamily="34" charset="-122"/>
                <a:cs typeface="Times New Roman" pitchFamily="34" charset="-120"/>
              </a:rPr>
              <a:t>Library Management</a:t>
            </a:r>
            <a:endParaRPr lang="en-US" sz="1600" dirty="0"/>
          </a:p>
        </p:txBody>
      </p:sp>
      <p:sp>
        <p:nvSpPr>
          <p:cNvPr id="27" name="Text 25"/>
          <p:cNvSpPr/>
          <p:nvPr/>
        </p:nvSpPr>
        <p:spPr>
          <a:xfrm>
            <a:off x="6949440" y="5303520"/>
            <a:ext cx="4754880" cy="640080"/>
          </a:xfrm>
          <a:prstGeom prst="rect">
            <a:avLst/>
          </a:prstGeom>
          <a:noFill/>
          <a:ln/>
        </p:spPr>
        <p:txBody>
          <a:bodyPr wrap="square" rtlCol="0" anchor="ctr"/>
          <a:lstStyle/>
          <a:p>
            <a:pPr indent="0" marL="0">
              <a:buNone/>
            </a:pPr>
            <a:r>
              <a:rPr lang="en-US" sz="1200" dirty="0">
                <a:solidFill>
                  <a:srgbClr val="1E293B"/>
                </a:solidFill>
                <a:latin typeface="Times New Roman" pitchFamily="34" charset="0"/>
                <a:ea typeface="Times New Roman" pitchFamily="34" charset="-122"/>
                <a:cs typeface="Times New Roman" pitchFamily="34" charset="-120"/>
              </a:rPr>
              <a:t>Book catalogue, borrowing, reservations, and fine tracking tied to the student record system.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indent="0" marL="0">
              <a:buNone/>
            </a:pPr>
            <a:r>
              <a:rPr lang="en-US" sz="3200" b="1" dirty="0">
                <a:solidFill>
                  <a:srgbClr val="1E3AA0"/>
                </a:solidFill>
                <a:latin typeface="Times New Roman" pitchFamily="34" charset="0"/>
                <a:ea typeface="Times New Roman" pitchFamily="34" charset="-122"/>
                <a:cs typeface="Times New Roman" pitchFamily="34" charset="-120"/>
              </a:rPr>
              <a:t>Conclusion</a:t>
            </a:r>
            <a:endParaRPr lang="en-US" sz="3200" dirty="0"/>
          </a:p>
        </p:txBody>
      </p:sp>
      <p:sp>
        <p:nvSpPr>
          <p:cNvPr id="3" name="Text 1"/>
          <p:cNvSpPr/>
          <p:nvPr/>
        </p:nvSpPr>
        <p:spPr>
          <a:xfrm>
            <a:off x="457200" y="960120"/>
            <a:ext cx="11247120" cy="365760"/>
          </a:xfrm>
          <a:prstGeom prst="rect">
            <a:avLst/>
          </a:prstGeom>
          <a:noFill/>
          <a:ln/>
        </p:spPr>
        <p:txBody>
          <a:bodyPr wrap="square" rtlCol="0" anchor="ctr"/>
          <a:lstStyle/>
          <a:p>
            <a:pPr indent="0" marL="0">
              <a:buNone/>
            </a:pPr>
            <a:r>
              <a:rPr lang="en-US" sz="1500" i="1" dirty="0">
                <a:solidFill>
                  <a:srgbClr val="E63946"/>
                </a:solidFill>
                <a:latin typeface="Times New Roman" pitchFamily="34" charset="0"/>
                <a:ea typeface="Times New Roman" pitchFamily="34" charset="-122"/>
                <a:cs typeface="Times New Roman" pitchFamily="34" charset="-120"/>
              </a:rPr>
              <a:t>A unified academic platform for IUGET Bonaberi</a:t>
            </a:r>
            <a:endParaRPr lang="en-US" sz="1500" dirty="0"/>
          </a:p>
        </p:txBody>
      </p:sp>
      <p:sp>
        <p:nvSpPr>
          <p:cNvPr id="4" name="Shape 2"/>
          <p:cNvSpPr/>
          <p:nvPr/>
        </p:nvSpPr>
        <p:spPr>
          <a:xfrm>
            <a:off x="457200" y="1554480"/>
            <a:ext cx="11247120" cy="4389120"/>
          </a:xfrm>
          <a:prstGeom prst="roundRect">
            <a:avLst>
              <a:gd name="adj" fmla="val 3125"/>
            </a:avLst>
          </a:prstGeom>
          <a:solidFill>
            <a:srgbClr val="FFFFFF"/>
          </a:solidFill>
          <a:ln w="25400">
            <a:solidFill>
              <a:srgbClr val="1E3AA0"/>
            </a:solidFill>
            <a:prstDash val="solid"/>
          </a:ln>
        </p:spPr>
      </p:sp>
      <p:sp>
        <p:nvSpPr>
          <p:cNvPr id="5" name="Text 3"/>
          <p:cNvSpPr/>
          <p:nvPr/>
        </p:nvSpPr>
        <p:spPr>
          <a:xfrm>
            <a:off x="914400" y="1737360"/>
            <a:ext cx="10332720" cy="457200"/>
          </a:xfrm>
          <a:prstGeom prst="rect">
            <a:avLst/>
          </a:prstGeom>
          <a:noFill/>
          <a:ln/>
        </p:spPr>
        <p:txBody>
          <a:bodyPr wrap="square" rtlCol="0" anchor="ctr"/>
          <a:lstStyle/>
          <a:p>
            <a:pPr algn="ctr" indent="0" marL="0">
              <a:buNone/>
            </a:pPr>
            <a:r>
              <a:rPr lang="en-US" sz="2200" b="1" dirty="0">
                <a:solidFill>
                  <a:srgbClr val="1E3AA0"/>
                </a:solidFill>
                <a:latin typeface="Times New Roman" pitchFamily="34" charset="0"/>
                <a:ea typeface="Times New Roman" pitchFamily="34" charset="-122"/>
                <a:cs typeface="Times New Roman" pitchFamily="34" charset="-120"/>
              </a:rPr>
              <a:t>SUMMARY</a:t>
            </a:r>
            <a:endParaRPr lang="en-US" sz="2200" dirty="0"/>
          </a:p>
        </p:txBody>
      </p:sp>
      <p:sp>
        <p:nvSpPr>
          <p:cNvPr id="6" name="Text 4"/>
          <p:cNvSpPr/>
          <p:nvPr/>
        </p:nvSpPr>
        <p:spPr>
          <a:xfrm>
            <a:off x="914400" y="2286000"/>
            <a:ext cx="10332720" cy="914400"/>
          </a:xfrm>
          <a:prstGeom prst="rect">
            <a:avLst/>
          </a:prstGeom>
          <a:noFill/>
          <a:ln/>
        </p:spPr>
        <p:txBody>
          <a:bodyPr wrap="square" rtlCol="0" anchor="t"/>
          <a:lstStyle/>
          <a:p>
            <a:pPr algn="ctr" indent="0" marL="0">
              <a:buNone/>
            </a:pPr>
            <a:r>
              <a:rPr lang="en-US" sz="1500" dirty="0">
                <a:solidFill>
                  <a:srgbClr val="1E293B"/>
                </a:solidFill>
                <a:latin typeface="Times New Roman" pitchFamily="34" charset="0"/>
                <a:ea typeface="Times New Roman" pitchFamily="34" charset="-122"/>
                <a:cs typeface="Times New Roman" pitchFamily="34" charset="-120"/>
              </a:rPr>
              <a:t>SIARM consolidates the operational core of a modern private university, including admissions, attendance, timetable, results, transcripts, identification, tuition payment, financial tracking, and parent registration, into a single role aware web application. The platform accommodates the operational reality of Cameroonian higher education: mobile money payment, evening teaching, offline capable delivery, and QR verifiable academic artefacts.</a:t>
            </a:r>
            <a:endParaRPr lang="en-US" sz="1500" dirty="0"/>
          </a:p>
        </p:txBody>
      </p:sp>
      <p:sp>
        <p:nvSpPr>
          <p:cNvPr id="7" name="Shape 5"/>
          <p:cNvSpPr/>
          <p:nvPr/>
        </p:nvSpPr>
        <p:spPr>
          <a:xfrm>
            <a:off x="1828800" y="3291840"/>
            <a:ext cx="8503920" cy="0"/>
          </a:xfrm>
          <a:prstGeom prst="line">
            <a:avLst/>
          </a:prstGeom>
          <a:noFill/>
          <a:ln w="12700">
            <a:solidFill>
              <a:srgbClr val="64748B"/>
            </a:solidFill>
            <a:prstDash val="solid"/>
          </a:ln>
        </p:spPr>
      </p:sp>
      <p:sp>
        <p:nvSpPr>
          <p:cNvPr id="8" name="Text 6"/>
          <p:cNvSpPr/>
          <p:nvPr/>
        </p:nvSpPr>
        <p:spPr>
          <a:xfrm>
            <a:off x="914400" y="3383280"/>
            <a:ext cx="10332720" cy="365760"/>
          </a:xfrm>
          <a:prstGeom prst="rect">
            <a:avLst/>
          </a:prstGeom>
          <a:noFill/>
          <a:ln/>
        </p:spPr>
        <p:txBody>
          <a:bodyPr wrap="square" rtlCol="0" anchor="ctr"/>
          <a:lstStyle/>
          <a:p>
            <a:pPr algn="ctr" indent="0" marL="0">
              <a:buNone/>
            </a:pPr>
            <a:r>
              <a:rPr lang="en-US" sz="1800" b="1" dirty="0">
                <a:solidFill>
                  <a:srgbClr val="10B981"/>
                </a:solidFill>
                <a:latin typeface="Times New Roman" pitchFamily="34" charset="0"/>
                <a:ea typeface="Times New Roman" pitchFamily="34" charset="-122"/>
                <a:cs typeface="Times New Roman" pitchFamily="34" charset="-120"/>
              </a:rPr>
              <a:t>ACHIEVEMENTS</a:t>
            </a:r>
            <a:endParaRPr lang="en-US" sz="1800" dirty="0"/>
          </a:p>
        </p:txBody>
      </p:sp>
      <p:sp>
        <p:nvSpPr>
          <p:cNvPr id="9" name="Text 7"/>
          <p:cNvSpPr/>
          <p:nvPr/>
        </p:nvSpPr>
        <p:spPr>
          <a:xfrm>
            <a:off x="914400" y="3840480"/>
            <a:ext cx="10332720" cy="347472"/>
          </a:xfrm>
          <a:prstGeom prst="rect">
            <a:avLst/>
          </a:prstGeom>
          <a:noFill/>
          <a:ln/>
        </p:spPr>
        <p:txBody>
          <a:bodyPr wrap="square" rtlCol="0" anchor="ctr"/>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  53 source files, 24 pages, 14 reusable components</a:t>
            </a:r>
            <a:endParaRPr lang="en-US" sz="1300" dirty="0"/>
          </a:p>
        </p:txBody>
      </p:sp>
      <p:sp>
        <p:nvSpPr>
          <p:cNvPr id="10" name="Text 8"/>
          <p:cNvSpPr/>
          <p:nvPr/>
        </p:nvSpPr>
        <p:spPr>
          <a:xfrm>
            <a:off x="914400" y="4224528"/>
            <a:ext cx="10332720" cy="347472"/>
          </a:xfrm>
          <a:prstGeom prst="rect">
            <a:avLst/>
          </a:prstGeom>
          <a:noFill/>
          <a:ln/>
        </p:spPr>
        <p:txBody>
          <a:bodyPr wrap="square" rtlCol="0" anchor="ctr"/>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  25 of 25 functional tests passing</a:t>
            </a:r>
            <a:endParaRPr lang="en-US" sz="1300" dirty="0"/>
          </a:p>
        </p:txBody>
      </p:sp>
      <p:sp>
        <p:nvSpPr>
          <p:cNvPr id="11" name="Text 9"/>
          <p:cNvSpPr/>
          <p:nvPr/>
        </p:nvSpPr>
        <p:spPr>
          <a:xfrm>
            <a:off x="914400" y="4608576"/>
            <a:ext cx="10332720" cy="347472"/>
          </a:xfrm>
          <a:prstGeom prst="rect">
            <a:avLst/>
          </a:prstGeom>
          <a:noFill/>
          <a:ln/>
        </p:spPr>
        <p:txBody>
          <a:bodyPr wrap="square" rtlCol="0" anchor="ctr"/>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  Lighthouse scores: Performance 92, Accessibility 96, Best Practices 100, SEO 100</a:t>
            </a:r>
            <a:endParaRPr lang="en-US" sz="1300" dirty="0"/>
          </a:p>
        </p:txBody>
      </p:sp>
      <p:sp>
        <p:nvSpPr>
          <p:cNvPr id="12" name="Text 10"/>
          <p:cNvSpPr/>
          <p:nvPr/>
        </p:nvSpPr>
        <p:spPr>
          <a:xfrm>
            <a:off x="914400" y="4992624"/>
            <a:ext cx="10332720" cy="347472"/>
          </a:xfrm>
          <a:prstGeom prst="rect">
            <a:avLst/>
          </a:prstGeom>
          <a:noFill/>
          <a:ln/>
        </p:spPr>
        <p:txBody>
          <a:bodyPr wrap="square" rtlCol="0" anchor="ctr"/>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  Five channel payment simulation with privacy by construction</a:t>
            </a:r>
            <a:endParaRPr lang="en-US" sz="1300" dirty="0"/>
          </a:p>
        </p:txBody>
      </p:sp>
      <p:sp>
        <p:nvSpPr>
          <p:cNvPr id="13" name="Text 11"/>
          <p:cNvSpPr/>
          <p:nvPr/>
        </p:nvSpPr>
        <p:spPr>
          <a:xfrm>
            <a:off x="914400" y="5376672"/>
            <a:ext cx="10332720" cy="347472"/>
          </a:xfrm>
          <a:prstGeom prst="rect">
            <a:avLst/>
          </a:prstGeom>
          <a:noFill/>
          <a:ln/>
        </p:spPr>
        <p:txBody>
          <a:bodyPr wrap="square" rtlCol="0" anchor="ctr"/>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  Automated enrolment pipeline generating six artefacts from one submission</a:t>
            </a:r>
            <a:endParaRPr lang="en-US" sz="1300" dirty="0"/>
          </a:p>
        </p:txBody>
      </p:sp>
      <p:sp>
        <p:nvSpPr>
          <p:cNvPr id="14" name="Shape 12"/>
          <p:cNvSpPr/>
          <p:nvPr/>
        </p:nvSpPr>
        <p:spPr>
          <a:xfrm>
            <a:off x="2286000" y="5943600"/>
            <a:ext cx="7589520" cy="457200"/>
          </a:xfrm>
          <a:prstGeom prst="roundRect">
            <a:avLst>
              <a:gd name="adj" fmla="val 16000"/>
            </a:avLst>
          </a:prstGeom>
          <a:solidFill>
            <a:srgbClr val="1E3AA0"/>
          </a:solidFill>
          <a:ln/>
        </p:spPr>
      </p:sp>
      <p:sp>
        <p:nvSpPr>
          <p:cNvPr id="15" name="Text 13"/>
          <p:cNvSpPr/>
          <p:nvPr/>
        </p:nvSpPr>
        <p:spPr>
          <a:xfrm>
            <a:off x="2286000" y="5943600"/>
            <a:ext cx="7589520" cy="457200"/>
          </a:xfrm>
          <a:prstGeom prst="rect">
            <a:avLst/>
          </a:prstGeom>
          <a:noFill/>
          <a:ln/>
        </p:spPr>
        <p:txBody>
          <a:bodyPr wrap="square"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All eight specific objectives from Chapter 1 have been achieved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3AA0"/>
          </a:solidFill>
          <a:ln/>
        </p:spPr>
      </p:sp>
      <p:sp>
        <p:nvSpPr>
          <p:cNvPr id="3" name="Shape 1"/>
          <p:cNvSpPr/>
          <p:nvPr/>
        </p:nvSpPr>
        <p:spPr>
          <a:xfrm>
            <a:off x="0" y="0"/>
            <a:ext cx="12188952" cy="109728"/>
          </a:xfrm>
          <a:prstGeom prst="rect">
            <a:avLst/>
          </a:prstGeom>
          <a:solidFill>
            <a:srgbClr val="E63946"/>
          </a:solidFill>
          <a:ln/>
        </p:spPr>
      </p:sp>
      <p:pic>
        <p:nvPicPr>
          <p:cNvPr id="4" name="Image 0" descr="/home/daytona/project/public/brand/iuget-logo-white.png">    </p:cNvPr>
          <p:cNvPicPr>
            <a:picLocks noChangeAspect="1"/>
          </p:cNvPicPr>
          <p:nvPr/>
        </p:nvPicPr>
        <p:blipFill>
          <a:blip r:embed="rId1"/>
          <a:stretch>
            <a:fillRect/>
          </a:stretch>
        </p:blipFill>
        <p:spPr>
          <a:xfrm>
            <a:off x="5212080" y="731520"/>
            <a:ext cx="1828800" cy="1828800"/>
          </a:xfrm>
          <a:prstGeom prst="rect">
            <a:avLst/>
          </a:prstGeom>
        </p:spPr>
      </p:pic>
      <p:sp>
        <p:nvSpPr>
          <p:cNvPr id="5" name="Text 2"/>
          <p:cNvSpPr/>
          <p:nvPr/>
        </p:nvSpPr>
        <p:spPr>
          <a:xfrm>
            <a:off x="457200" y="2926080"/>
            <a:ext cx="11247120" cy="1188720"/>
          </a:xfrm>
          <a:prstGeom prst="rect">
            <a:avLst/>
          </a:prstGeom>
          <a:noFill/>
          <a:ln/>
        </p:spPr>
        <p:txBody>
          <a:bodyPr wrap="square" rtlCol="0" anchor="ctr"/>
          <a:lstStyle/>
          <a:p>
            <a:pPr algn="ctr" indent="0" marL="0">
              <a:buNone/>
            </a:pPr>
            <a:r>
              <a:rPr lang="en-US" sz="9600" b="1" dirty="0">
                <a:solidFill>
                  <a:srgbClr val="FFFFFF"/>
                </a:solidFill>
                <a:latin typeface="Times New Roman" pitchFamily="34" charset="0"/>
                <a:ea typeface="Times New Roman" pitchFamily="34" charset="-122"/>
                <a:cs typeface="Times New Roman" pitchFamily="34" charset="-120"/>
              </a:rPr>
              <a:t>Thank You</a:t>
            </a:r>
            <a:endParaRPr lang="en-US" sz="9600" dirty="0"/>
          </a:p>
        </p:txBody>
      </p:sp>
      <p:sp>
        <p:nvSpPr>
          <p:cNvPr id="6" name="Text 3"/>
          <p:cNvSpPr/>
          <p:nvPr/>
        </p:nvSpPr>
        <p:spPr>
          <a:xfrm>
            <a:off x="457200" y="4206240"/>
            <a:ext cx="11247120" cy="548640"/>
          </a:xfrm>
          <a:prstGeom prst="rect">
            <a:avLst/>
          </a:prstGeom>
          <a:noFill/>
          <a:ln/>
        </p:spPr>
        <p:txBody>
          <a:bodyPr wrap="square" rtlCol="0" anchor="ctr"/>
          <a:lstStyle/>
          <a:p>
            <a:pPr algn="ctr" indent="0" marL="0">
              <a:buNone/>
            </a:pPr>
            <a:r>
              <a:rPr lang="en-US" sz="2800" i="1" dirty="0">
                <a:solidFill>
                  <a:srgbClr val="C7D2FE"/>
                </a:solidFill>
                <a:latin typeface="Times New Roman" pitchFamily="34" charset="0"/>
                <a:ea typeface="Times New Roman" pitchFamily="34" charset="-122"/>
                <a:cs typeface="Times New Roman" pitchFamily="34" charset="-120"/>
              </a:rPr>
              <a:t>Open for Questions from the Jury</a:t>
            </a:r>
            <a:endParaRPr lang="en-US" sz="2800" dirty="0"/>
          </a:p>
        </p:txBody>
      </p:sp>
      <p:sp>
        <p:nvSpPr>
          <p:cNvPr id="7" name="Text 4"/>
          <p:cNvSpPr/>
          <p:nvPr/>
        </p:nvSpPr>
        <p:spPr>
          <a:xfrm>
            <a:off x="457200" y="4846320"/>
            <a:ext cx="11247120" cy="365760"/>
          </a:xfrm>
          <a:prstGeom prst="rect">
            <a:avLst/>
          </a:prstGeom>
          <a:noFill/>
          <a:ln/>
        </p:spPr>
        <p:txBody>
          <a:bodyPr wrap="square" rtlCol="0" anchor="ctr"/>
          <a:lstStyle/>
          <a:p>
            <a:pPr algn="ctr" indent="0" marL="0">
              <a:buNone/>
            </a:pPr>
            <a:r>
              <a:rPr lang="en-US" sz="1600" i="1" dirty="0">
                <a:solidFill>
                  <a:srgbClr val="BFD4FE"/>
                </a:solidFill>
                <a:latin typeface="Times New Roman" pitchFamily="34" charset="0"/>
                <a:ea typeface="Times New Roman" pitchFamily="34" charset="-122"/>
                <a:cs typeface="Times New Roman" pitchFamily="34" charset="-120"/>
              </a:rPr>
              <a:t>"Bien choisir, c'est deja reussir"</a:t>
            </a:r>
            <a:endParaRPr lang="en-US" sz="1600" dirty="0"/>
          </a:p>
        </p:txBody>
      </p:sp>
      <p:sp>
        <p:nvSpPr>
          <p:cNvPr id="8" name="Text 5"/>
          <p:cNvSpPr/>
          <p:nvPr/>
        </p:nvSpPr>
        <p:spPr>
          <a:xfrm>
            <a:off x="457200" y="5852160"/>
            <a:ext cx="11247120" cy="365760"/>
          </a:xfrm>
          <a:prstGeom prst="rect">
            <a:avLst/>
          </a:prstGeom>
          <a:noFill/>
          <a:ln/>
        </p:spPr>
        <p:txBody>
          <a:bodyPr wrap="square" rtlCol="0" anchor="ctr"/>
          <a:lstStyle/>
          <a:p>
            <a:pPr algn="ctr" indent="0" marL="0">
              <a:buNone/>
            </a:pPr>
            <a:r>
              <a:rPr lang="en-US" sz="1400" dirty="0">
                <a:solidFill>
                  <a:srgbClr val="BFD4FE"/>
                </a:solidFill>
                <a:latin typeface="Times New Roman" pitchFamily="34" charset="0"/>
                <a:ea typeface="Times New Roman" pitchFamily="34" charset="-122"/>
                <a:cs typeface="Times New Roman" pitchFamily="34" charset="-120"/>
              </a:rPr>
              <a:t>James Murdza  |  Level 3 SWE  |  IUGET Bonaberi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IUGET Bonaberi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SIARM  Smart Institution Academic Resource Management</dc:title>
  <dc:subject>PptxGenJS Presentation</dc:subject>
  <dc:creator>James Murdza</dc:creator>
  <cp:lastModifiedBy>James Murdza</cp:lastModifiedBy>
  <cp:revision>1</cp:revision>
  <dcterms:created xsi:type="dcterms:W3CDTF">2026-07-17T02:40:34Z</dcterms:created>
  <dcterms:modified xsi:type="dcterms:W3CDTF">2026-07-17T02:40:34Z</dcterms:modified>
</cp:coreProperties>
</file>