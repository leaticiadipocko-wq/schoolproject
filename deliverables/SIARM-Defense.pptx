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IUGET Bonabéri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Project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64008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6517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UNIVERSITAIRE DU GOLFE DE GUINÉE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2971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5661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Software Engineering  ·  2025–2026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outline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short acts · twenty-five minutes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14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9" name="Text 7"/>
          <p:cNvSpPr/>
          <p:nvPr/>
        </p:nvSpPr>
        <p:spPr>
          <a:xfrm>
            <a:off x="2834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34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5120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086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06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7406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372600" y="3383280"/>
            <a:ext cx="2743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0" y="2286000"/>
            <a:ext cx="1920240" cy="2194560"/>
          </a:xfrm>
          <a:prstGeom prst="roundRect">
            <a:avLst>
              <a:gd name="adj" fmla="val 7143"/>
            </a:avLst>
          </a:prstGeom>
          <a:solidFill>
            <a:srgbClr val="1E3AA0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2468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22" name="Text 20"/>
          <p:cNvSpPr/>
          <p:nvPr/>
        </p:nvSpPr>
        <p:spPr>
          <a:xfrm>
            <a:off x="9692640" y="36576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 is anchored by one or two diagrams.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pains observed at IUGET today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grades, fees, timetable do not talk to each other.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55448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103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Roll-call on paper · grade sheets typed twice.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Opaque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103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cannot see weekly KPIs in real time.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74904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Offline-poor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lose access when internet drops.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43400" y="374904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400" y="374904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enrol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queue at the bursary for hours.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3749040"/>
            <a:ext cx="3657600" cy="457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29768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receipts and transcripts are easily copied.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deliverables — defence-ready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academic platform for IUGET — one app for everything operational.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774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information architecture — Student, Lecturer, Staff, Admin, Parent.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1546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tuition payment — MoMo, OM, PayPal, Visa, Bank.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9319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student enrolment — single form or CSV upload.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47091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Printable, QR-verifiable receipts · results · transcripts · ID cards.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440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4864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Offline-capable Progressive Web Application.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sprints · one semester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3931920"/>
            <a:ext cx="10698480" cy="0"/>
          </a:xfrm>
          <a:prstGeom prst="line">
            <a:avLst/>
          </a:prstGeom>
          <a:noFill/>
          <a:ln w="254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3776472"/>
            <a:ext cx="365760" cy="365760"/>
          </a:xfrm>
          <a:prstGeom prst="ellipse">
            <a:avLst/>
          </a:prstGeom>
          <a:solidFill>
            <a:srgbClr val="E6394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 · Auth · Design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0720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4028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Lecturer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Timetable · Results · Transcripts · ID card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4748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Admin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Finance · Timetable builder · Announcements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8776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8776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2084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1228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· Payment simulation · QR receipts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28048" y="3776472"/>
            <a:ext cx="365760" cy="365760"/>
          </a:xfrm>
          <a:prstGeom prst="ellipse">
            <a:avLst/>
          </a:prstGeom>
          <a:solidFill>
            <a:srgbClr val="1E3A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28048" y="3776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61120" y="429768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0" y="43434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52560" y="4754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· Accessibility · Documentation · Defence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1828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one-week sprint produced shippable functionality.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separation</a:t>
            </a:r>
            <a:endParaRPr lang="en-US" sz="15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4.1 — Presentation · Persistence · External services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collections, hierarchical relationships</a:t>
            </a:r>
            <a:endParaRPr lang="en-US" sz="15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4.2 — Entity-Relationship Diagram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authenticated roles + Parent (public)</a:t>
            </a:r>
            <a:endParaRPr lang="en-US" sz="15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4.3 — Use-case diagram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sequence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· JSON Web Token · role guard</a:t>
            </a:r>
            <a:endParaRPr lang="en-US" sz="15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4.4 — Login sequence diagram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decomposition — pages / containers / shared</a:t>
            </a:r>
            <a:endParaRPr lang="en-US" sz="15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4.5 — Component diagram of the front-end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— tuition payment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never persisted</a:t>
            </a:r>
            <a:endParaRPr lang="en-US" sz="15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4.6 — Privacy by construction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edge · Firebase managed services</a:t>
            </a:r>
            <a:endParaRPr lang="en-US" sz="15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4.7 — Production deployment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Lean, well-supported, free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544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6948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77824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287000" y="162763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87000" y="162763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5603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743200" y="263347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263347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51960" y="263347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263347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Firestore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63347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63347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CDN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5661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74320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5196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5196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html2canvas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76072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3639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363931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pptxgenjs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45720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1E3AA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720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2743200" y="464515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0" y="464515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vite-plugin-pwa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51960" y="464515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51960" y="464515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Workbox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760720" y="464515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4645152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cache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Bachelor specialties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evening + Saturday grid for all three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657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 years · 6 semesters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500,000 FCFA / year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114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Mon-Fri 18:00–22:00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Saturday 08:00–17:00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34840" y="15544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554480"/>
            <a:ext cx="3657600" cy="13716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CNSM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17720" y="2377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&amp; Multimedia Systems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 years · 6 semesters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500,000 FCFA / year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4114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Mon-Fri 18:00–22:00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Saturday 08:00–17:00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21040" y="15544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1040" y="1554480"/>
            <a:ext cx="3657600" cy="1371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16459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BST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8503920" y="2377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Strategy &amp; Technology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31089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3 years · 6 semesters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500,000 FCFA / year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0" y="41148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Mon-Fri 18:00–22:00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Saturday 08:00–17:00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registration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 · zero account required</a:t>
            </a:r>
            <a:endParaRPr lang="en-US" sz="1500" dirty="0"/>
          </a:p>
        </p:txBody>
      </p:sp>
      <p:pic>
        <p:nvPicPr>
          <p:cNvPr id="4" name="Image 0" descr="/home/daytona/project/deliverables/diagrams/08-par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5.1 — Public Parent Portal flow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simulation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· five channels</a:t>
            </a:r>
            <a:endParaRPr lang="en-US" sz="1500" dirty="0"/>
          </a:p>
        </p:txBody>
      </p:sp>
      <p:pic>
        <p:nvPicPr>
          <p:cNvPr id="4" name="Image 0" descr="/home/daytona/project/deliverables/diagrams/09-paym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5.2 — MoMo · OM · PayPal · Visa · Bank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guarantee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as code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10332720" cy="3931920"/>
          </a:xfrm>
          <a:prstGeom prst="roundRect">
            <a:avLst>
              <a:gd name="adj" fmla="val 3488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// after the simulated provider call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6EFAC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setPwd('')   // PIN / password erased from memory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No PIN, password or card data is ever persisted.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privacy notice is printed in the modal and on every receipt.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defining authenticity touch — no academic SIS surveyed offered this.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student enrolment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modes · one pipeline</a:t>
            </a:r>
            <a:endParaRPr lang="en-US" sz="1500" dirty="0"/>
          </a:p>
        </p:txBody>
      </p:sp>
      <p:pic>
        <p:nvPicPr>
          <p:cNvPr id="4" name="Image 0" descr="/home/daytona/project/deliverables/diagrams/10-enrolment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5.3 — Single form or bulk CSV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tracking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Bursary dashboard — what staff see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M FCFA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M FCFA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paid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0936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students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235440" y="155448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645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235440" y="19659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collection trend  (FCFA M)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9144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114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4754880"/>
            <a:ext cx="914400" cy="109728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1" name="Text 19"/>
          <p:cNvSpPr/>
          <p:nvPr/>
        </p:nvSpPr>
        <p:spPr>
          <a:xfrm>
            <a:off x="182880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4389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91840" y="4251960"/>
            <a:ext cx="914400" cy="16002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4" name="Text 22"/>
          <p:cNvSpPr/>
          <p:nvPr/>
        </p:nvSpPr>
        <p:spPr>
          <a:xfrm>
            <a:off x="310896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5120640"/>
            <a:ext cx="914400" cy="7315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4754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52160" y="3931920"/>
            <a:ext cx="914400" cy="19202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35661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132320" y="4434840"/>
            <a:ext cx="914400" cy="14173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49440" y="40690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412480" y="4663440"/>
            <a:ext cx="914400" cy="11887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0" y="4297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692640" y="4892040"/>
            <a:ext cx="914400" cy="9601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9" name="Text 37"/>
          <p:cNvSpPr/>
          <p:nvPr/>
        </p:nvSpPr>
        <p:spPr>
          <a:xfrm>
            <a:off x="950976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509760" y="4526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972800" y="4937760"/>
            <a:ext cx="914400" cy="9144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42" name="Text 40"/>
          <p:cNvSpPr/>
          <p:nvPr/>
        </p:nvSpPr>
        <p:spPr>
          <a:xfrm>
            <a:off x="10789920" y="5897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78992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printable artefacts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carries a verification QR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11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240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2423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2057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receipt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468880" y="2560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verify.iuget.cm/{matricule}/{ref}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6888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645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75120" y="2011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3" name="Shape 11"/>
          <p:cNvSpPr/>
          <p:nvPr/>
        </p:nvSpPr>
        <p:spPr>
          <a:xfrm>
            <a:off x="6903720" y="2240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7086600" y="2423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0" y="2057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statement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0" y="2560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verify.iuget.cm/results/{matricule}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297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" y="4526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325880" y="4709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2" name="Text 20"/>
          <p:cNvSpPr/>
          <p:nvPr/>
        </p:nvSpPr>
        <p:spPr>
          <a:xfrm>
            <a:off x="246888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transcript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468880" y="4846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verify.iuget.cm/transcript/{matricule}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468880" y="5303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4297680"/>
            <a:ext cx="1371600" cy="13716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526280"/>
            <a:ext cx="91440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4709160"/>
            <a:ext cx="548640" cy="54864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 card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, monospace" pitchFamily="34" charset="0"/>
                <a:ea typeface="Consolas, monospace" pitchFamily="34" charset="-122"/>
                <a:cs typeface="Consolas, monospace" pitchFamily="34" charset="-120"/>
              </a:rPr>
              <a:t>verify.iuget.cm/{matricule}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0" y="5303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Print · QR-verifiable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functional tests · 25 pass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16459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828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22960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374904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39319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4572000" y="4937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0" y="3749040"/>
            <a:ext cx="33832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9319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audit of the production build · 482 kB gzipped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survives 1 K → 100 K students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100 users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182880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89520" y="182880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demo / pilot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— 3 000 users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50–200 USD/month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329184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Bonabéri production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663440"/>
            <a:ext cx="3108960" cy="11887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6634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 — 100 K users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0" y="475488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2 USD / user / year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589520" y="475488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Multi-institution SaaS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base · stateless front-end · serverless persistence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Scrumban — Scrum cadence + Kanban flow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657600" cy="5029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1-week sprints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434840" y="1554480"/>
            <a:ext cx="36576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34840" y="1554480"/>
            <a:ext cx="3657600" cy="5029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15544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Ceremonies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219456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· Review · Retro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321040" y="1554480"/>
            <a:ext cx="36576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21040" y="1554480"/>
            <a:ext cx="3657600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15544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03920" y="219456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limit 3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576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749040"/>
            <a:ext cx="365760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7490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389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434840" y="3749040"/>
            <a:ext cx="36576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4840" y="3749040"/>
            <a:ext cx="3657600" cy="50292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22" name="Text 20"/>
          <p:cNvSpPr/>
          <p:nvPr/>
        </p:nvSpPr>
        <p:spPr>
          <a:xfrm>
            <a:off x="4434840" y="37490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17720" y="4389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user stories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321040" y="3749040"/>
            <a:ext cx="3657600" cy="19202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21040" y="3749040"/>
            <a:ext cx="365760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37490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03920" y="4389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SP / sprint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Agile = Scrum cadence + Kanban WIP discipline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sprints · 120 story points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sprint shipped a working increment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914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· auth · design system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0" y="164592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6459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359152"/>
            <a:ext cx="914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59152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450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&amp; Lecturer surfaces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601200" y="2359152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0" y="235915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914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072384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16382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Bursary &amp; Administration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601200" y="3072384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3072384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SP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785616"/>
            <a:ext cx="914400" cy="594360"/>
          </a:xfrm>
          <a:prstGeom prst="roundRect">
            <a:avLst>
              <a:gd name="adj" fmla="val 12308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785616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87705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 + simulated payment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601200" y="3785616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378561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4498848"/>
            <a:ext cx="914400" cy="594360"/>
          </a:xfrm>
          <a:prstGeom prst="roundRect">
            <a:avLst>
              <a:gd name="adj" fmla="val 12308"/>
            </a:avLst>
          </a:prstGeom>
          <a:solidFill>
            <a:srgbClr val="1E3AA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498848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59028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· PWA · UML · defence package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601200" y="4498848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0" y="4498848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SP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914400" cy="594360"/>
          </a:xfrm>
          <a:prstGeom prst="roundRect">
            <a:avLst>
              <a:gd name="adj" fmla="val 12308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21208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303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· Profile · Help · ICS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601200" y="521208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0" y="52120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SP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stabilised at 22 SP/sprint · 120 SP delivered in total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Burndown chart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 tracking — two scope-creep events recorded</a:t>
            </a:r>
            <a:endParaRPr lang="en-US" sz="1500" dirty="0"/>
          </a:p>
        </p:txBody>
      </p:sp>
      <p:pic>
        <p:nvPicPr>
          <p:cNvPr id="4" name="Image 0" descr="/home/daytona/project/deliverables/diagrams/16-burn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5b.2 — Story points remaining over 6 sprints · red dashed = scope added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limit = 3 · snapshot at end of Sprint 4</a:t>
            </a:r>
            <a:endParaRPr lang="en-US" sz="1500" dirty="0"/>
          </a:p>
        </p:txBody>
      </p:sp>
      <p:pic>
        <p:nvPicPr>
          <p:cNvPr id="4" name="Image 0" descr="/home/daytona/project/deliverables/diagrams/17-kan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106984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5b.1 — Backlog · To Do · In Progress (WIP 3) · Review · Done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concrete deliverables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64592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434840" y="2926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0" y="164592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321040" y="2926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&amp; UML diagrams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931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54864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one-week sprints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34840" y="37490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3931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443484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channels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321040" y="3749040"/>
            <a:ext cx="3657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3931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321040" y="5029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QR-verifiable artefacts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bachelor defence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companions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2194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· 80% shared code with web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6459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17373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49440" y="2194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roll-call on Android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0175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MoMo / OM integration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566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simulated flows to provider APIs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30175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0175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3108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49440" y="3566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Per-institution branding, fees, timetables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3891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4480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Clash-free generation, room + invigilator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438912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389120"/>
            <a:ext cx="457200" cy="1097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0" y="44805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management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49440" y="4937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Catalogue, borrowing, reservations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731520"/>
            <a:ext cx="182880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926080"/>
            <a:ext cx="11247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9600" dirty="0"/>
          </a:p>
        </p:txBody>
      </p:sp>
      <p:sp>
        <p:nvSpPr>
          <p:cNvPr id="6" name="Text 3"/>
          <p:cNvSpPr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D4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Bonabéri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IUGET Bonabéri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2026-06-04T17:47:04Z</dcterms:created>
  <dcterms:modified xsi:type="dcterms:W3CDTF">2026-06-04T17:47:04Z</dcterms:modified>
</cp:coreProperties>
</file>