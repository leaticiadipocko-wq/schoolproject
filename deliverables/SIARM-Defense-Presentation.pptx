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058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103120" y="548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2103120" y="13716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Institution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Resource Management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103120" y="2377440"/>
            <a:ext cx="27432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25603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Bachelor of Technology — Software Engineering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03120" y="3017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👨‍🎓  James Murdza  •  Level 3 SWE  •  IUGET Bonabéri, Douala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3474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 Academic Year 2025/2026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Bien choisir c'est déjà réussir » — IUGET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Table of Contents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E63946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716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Motivation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86000" y="118872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1E3AA0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86000" y="13716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28600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0" y="21031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931920" y="118872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059669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931920" y="13716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🏗️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93192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0" y="21031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77840" y="118872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7C3AED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577840" y="13716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57784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77840" y="21031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23760" y="118872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0891B2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23760" y="13716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22376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23760" y="21031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Roles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01752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D97706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" y="32004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40080" y="36576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3931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86000" y="301752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EC4899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286000" y="32004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2286000" y="36576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6000" y="3931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Design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931920" y="301752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DC2626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931920" y="32004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3931920" y="36576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931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577840" y="301752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1E3AA0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77840" y="32004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5577840" y="36576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77840" y="3931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223760" y="301752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059669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223760" y="32004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7223760" y="36576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223760" y="3931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50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SIARM was built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BEFORE vs ✅  AFTER (SIARM)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3657600" cy="3383280"/>
          </a:xfrm>
          <a:prstGeom prst="roundRect">
            <a:avLst>
              <a:gd name="adj" fmla="val 324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BEFORE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Paper attendance sheets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194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Manual grade compilation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No central student portal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Physical fee receipts only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566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No parent visibility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Manual MINESUP reports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657600" cy="3383280"/>
          </a:xfrm>
          <a:prstGeom prst="roundRect">
            <a:avLst>
              <a:gd name="adj" fmla="val 324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AFTER (SIARM)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1737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Digital attendance tracking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2194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Automated grade management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24/7 online student portal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3108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Instant digital payments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3566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Parent portal for tracking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One-click MINESUP export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Motivation &amp; Vision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1E3AA0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Digitize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student lifecycle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832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204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 for all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data access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0891B2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Paperless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less paperwork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832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3832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33832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204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EN/FR support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264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EC489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264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📶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1264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without internet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Objectives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SIARM aims to achieve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50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Project Objectives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1E3AA0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280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97480" y="118872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59669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1280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6974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97706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1280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548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12280" y="118872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7C3AED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12280" y="1280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8122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Timetable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242316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891B2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2514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0080" y="2971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Cards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697480" y="242316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EC4899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697480" y="2514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697480" y="2971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42316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C2626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54880" y="2514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754880" y="2971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812280" y="242316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1E3AA0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12280" y="2514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👨‍👩‍👦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812280" y="2971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3657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59669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" y="3749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40080" y="4206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697480" y="3657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97706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697480" y="3749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2697480" y="4206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MINESUP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54880" y="3657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7C3AED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54880" y="3749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📶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54880" y="4206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12280" y="3657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891B2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812280" y="3749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12280" y="4206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50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solutions &amp; gaps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50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 Existing Solutions &amp; Gaps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463040" cy="256032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371600"/>
            <a:ext cx="914400" cy="91440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LMS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No fees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86000" y="1188720"/>
            <a:ext cx="1463040" cy="256032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371600"/>
            <a:ext cx="914400" cy="914400"/>
          </a:xfrm>
          <a:prstGeom prst="roundRect">
            <a:avLst>
              <a:gd name="adj" fmla="val 15000"/>
            </a:avLst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371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🏫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286000" y="2377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Class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27432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Simple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86000" y="30175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No admin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931920" y="1188720"/>
            <a:ext cx="1463040" cy="256032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1371600"/>
            <a:ext cx="914400" cy="91440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206240" y="1371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💼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931920" y="2377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SAP/Oracle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931920" y="27432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Complete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931920" y="30175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Expensive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577840" y="1188720"/>
            <a:ext cx="1463040" cy="256032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52160" y="1371600"/>
            <a:ext cx="914400" cy="914400"/>
          </a:xfrm>
          <a:prstGeom prst="roundRect">
            <a:avLst>
              <a:gd name="adj" fmla="val 15000"/>
            </a:avLst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5852160" y="1371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5577840" y="2377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77840" y="27432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Flexible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77840" y="30175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No validation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23760" y="1188720"/>
            <a:ext cx="1463040" cy="256032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0" y="1371600"/>
            <a:ext cx="914400" cy="914400"/>
          </a:xfrm>
          <a:prstGeom prst="roundRect">
            <a:avLst>
              <a:gd name="adj" fmla="val 15000"/>
            </a:avLst>
          </a:prstGeom>
          <a:solidFill>
            <a:srgbClr val="64748B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0" y="1371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7223760" y="2377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23760" y="27432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Simple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223760" y="30175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Lost data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371600" y="39319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EF2F2"/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71600" y="39319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GAP: No affordable, all-in-one platform for African universities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50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 SIARM: The Unified Solution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0" y="1828800"/>
            <a:ext cx="2743200" cy="1371600"/>
          </a:xfrm>
          <a:prstGeom prst="roundRect">
            <a:avLst>
              <a:gd name="adj" fmla="val 13333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0" y="18288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All-in-One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223760" y="214884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1E3AA0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0" y="21945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23760" y="2606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286385" y="3312681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6286385" y="3358401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86385" y="3769881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023360" y="379476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4023360" y="38404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4251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Timetable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60335" y="3312681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1760335" y="3358401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60335" y="3769881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22960" y="214884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21945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2606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760335" y="984999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EC4899"/>
          </a:solidFill>
          <a:ln/>
        </p:spPr>
      </p:sp>
      <p:sp>
        <p:nvSpPr>
          <p:cNvPr id="22" name="Text 20"/>
          <p:cNvSpPr/>
          <p:nvPr/>
        </p:nvSpPr>
        <p:spPr>
          <a:xfrm>
            <a:off x="1760335" y="1030719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760335" y="1442199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023360" y="50292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4023360" y="5486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🆔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023360" y="9601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Card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86385" y="984999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1E3AA0"/>
          </a:solidFill>
          <a:ln/>
        </p:spPr>
      </p:sp>
      <p:sp>
        <p:nvSpPr>
          <p:cNvPr id="28" name="Text 26"/>
          <p:cNvSpPr/>
          <p:nvPr/>
        </p:nvSpPr>
        <p:spPr>
          <a:xfrm>
            <a:off x="6286385" y="1030719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286385" y="1442199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50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🏗️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SIARM is built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50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🏗️  High-Level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👨‍🎓👩‍🏫👨‍💼👨‍💻  Users (Students, Lecturers, Staff, Admins)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0" y="1920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⬇️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1E3AA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377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⚛️  React 18 + Vite + Tailwind CSS  •  PWA (Service Worker)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0" y="31089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⬇️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 Firebase  •  Auth  •  Firestore  •  Storage  •  Real-time Sync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50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  Component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109728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 App.jsx  —  All Routes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1920240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9202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Language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0" y="1920240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0" y="19202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Auth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1920240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9202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24688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⬇️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371600" y="2926080"/>
            <a:ext cx="1737360" cy="9144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29260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Pages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2926080"/>
            <a:ext cx="1737360" cy="914400"/>
          </a:xfrm>
          <a:prstGeom prst="roundRect">
            <a:avLst>
              <a:gd name="adj" fmla="val 10000"/>
            </a:avLst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3291840" y="29260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 UI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12080" y="2926080"/>
            <a:ext cx="1737360" cy="9144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29260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Lib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32320" y="2926080"/>
            <a:ext cx="1737360" cy="91440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0" y="29260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🔀 Router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50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Technology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0EA5E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⚛️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Framework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832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204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Tool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0891B2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832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EC489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3832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33832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204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264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264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📶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1264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50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Overview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SIARM delivers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50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Features by Role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2011680" cy="338328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80160"/>
            <a:ext cx="914400" cy="914400"/>
          </a:xfrm>
          <a:prstGeom prst="roundRect">
            <a:avLst>
              <a:gd name="adj" fmla="val 15000"/>
            </a:avLst>
          </a:prstGeom>
          <a:solidFill>
            <a:srgbClr val="0EA5E9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👨‍🎓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Attendance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Grades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34747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Timetable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Fees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4206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Learning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51760" y="1097280"/>
            <a:ext cx="2011680" cy="338328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280160"/>
            <a:ext cx="914400" cy="91440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👩‍🏫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651760" y="2286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834640" y="27432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Mark Attendance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34640" y="3108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Enter Grades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834640" y="34747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Lessons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834640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Assignments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1097280"/>
            <a:ext cx="2011680" cy="338328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280160"/>
            <a:ext cx="914400" cy="914400"/>
          </a:xfrm>
          <a:prstGeom prst="roundRect">
            <a:avLst>
              <a:gd name="adj" fmla="val 15000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539496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👨‍💼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846320" y="2286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0" y="27432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Users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3108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Enrollment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0" y="34747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 Finance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0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Timetable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0" y="4206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Analytics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040880" y="1097280"/>
            <a:ext cx="2011680" cy="338328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520" y="1280160"/>
            <a:ext cx="914400" cy="91440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7589520" y="1280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7040880" y="2286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223760" y="27432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Settings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23760" y="3108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Dashboard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223760" y="34747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Audit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223760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MINESUP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50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Attendance Tracking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👩‍🏫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86000" y="14630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65176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10" name="Text 8"/>
          <p:cNvSpPr/>
          <p:nvPr/>
        </p:nvSpPr>
        <p:spPr>
          <a:xfrm>
            <a:off x="265176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65176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0" y="14630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6344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14630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67512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👨‍🎓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67512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27432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40080" y="32004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83280" y="27432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3383280" y="32004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338328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Absent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27432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1E3AA0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126480" y="32004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12648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50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Grade Management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Marks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(40%)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86000" y="14630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65176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265176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65176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Exam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(60%)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0" y="14630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➕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6344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14630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67512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67512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GPA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2743200"/>
            <a:ext cx="3657600" cy="1645920"/>
          </a:xfrm>
          <a:prstGeom prst="roundRect">
            <a:avLst>
              <a:gd name="adj" fmla="val 5556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Grading Scale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32004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(16-20) = Bien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3474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(14-15) = Assez Bien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3749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(12-13) = Passable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4400" y="40233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(&lt;12) = Échec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2743200"/>
            <a:ext cx="3657600" cy="1645920"/>
          </a:xfrm>
          <a:prstGeom prst="roundRect">
            <a:avLst>
              <a:gd name="adj" fmla="val 5556"/>
            </a:avLst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834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 QR Verification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0" y="320040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 Scan to verify authenticity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 PDF transcripts with QR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🖨️  Printable official documents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50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Tuition &amp; Fee Payments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280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MTN MoMo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9748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EA580C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1280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6974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Money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1280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548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Visa/MC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1228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12280" y="1280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🏦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8122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25603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651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" y="30175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Fees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86000" y="2834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2651760" y="25603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22" name="Text 20"/>
          <p:cNvSpPr/>
          <p:nvPr/>
        </p:nvSpPr>
        <p:spPr>
          <a:xfrm>
            <a:off x="2651760" y="2651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2651760" y="30175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Now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97680" y="2834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4663440" y="25603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2651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663440" y="30175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09360" y="2834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6675120" y="25603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30" name="Text 28"/>
          <p:cNvSpPr/>
          <p:nvPr/>
        </p:nvSpPr>
        <p:spPr>
          <a:xfrm>
            <a:off x="6675120" y="2651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🧾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75120" y="30175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" y="393192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39319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 Recovery Rate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83280" y="393192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1E3AA0"/>
          </a:solidFill>
          <a:ln/>
        </p:spPr>
      </p:sp>
      <p:sp>
        <p:nvSpPr>
          <p:cNvPr id="35" name="Text 33"/>
          <p:cNvSpPr/>
          <p:nvPr/>
        </p:nvSpPr>
        <p:spPr>
          <a:xfrm>
            <a:off x="3383280" y="39319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Processing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126480" y="393192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7C3AED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0" y="39319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Receipts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50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 Timetable Management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777240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118872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7" name="Text 5"/>
          <p:cNvSpPr/>
          <p:nvPr/>
        </p:nvSpPr>
        <p:spPr>
          <a:xfrm>
            <a:off x="2011680" y="11887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08960" y="118872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1887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6240" y="118872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4206240" y="11887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118872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11887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0" y="118872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1887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498080" y="118872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0" y="11887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1828800"/>
            <a:ext cx="1097280" cy="914400"/>
          </a:xfrm>
          <a:prstGeom prst="roundRect">
            <a:avLst>
              <a:gd name="adj" fmla="val 5000"/>
            </a:avLst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82880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6-8 PM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2926080"/>
            <a:ext cx="1097280" cy="914400"/>
          </a:xfrm>
          <a:prstGeom prst="roundRect">
            <a:avLst>
              <a:gd name="adj" fmla="val 5000"/>
            </a:avLst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29260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8-10 PM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11680" y="1828800"/>
            <a:ext cx="1005840" cy="914400"/>
          </a:xfrm>
          <a:prstGeom prst="roundRect">
            <a:avLst>
              <a:gd name="adj" fmla="val 8000"/>
            </a:avLst>
          </a:prstGeom>
          <a:solidFill>
            <a:srgbClr val="1E3AA0"/>
          </a:solidFill>
          <a:ln/>
        </p:spPr>
      </p:sp>
      <p:sp>
        <p:nvSpPr>
          <p:cNvPr id="23" name="Text 21"/>
          <p:cNvSpPr/>
          <p:nvPr/>
        </p:nvSpPr>
        <p:spPr>
          <a:xfrm>
            <a:off x="2011680" y="182880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108960" y="1828800"/>
            <a:ext cx="1005840" cy="9144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3108960" y="182880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06240" y="2926080"/>
            <a:ext cx="1005840" cy="9144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</p:spPr>
      </p:sp>
      <p:sp>
        <p:nvSpPr>
          <p:cNvPr id="27" name="Text 25"/>
          <p:cNvSpPr/>
          <p:nvPr/>
        </p:nvSpPr>
        <p:spPr>
          <a:xfrm>
            <a:off x="4206240" y="292608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03520" y="1828800"/>
            <a:ext cx="10058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/>
        </p:spPr>
      </p:sp>
      <p:sp>
        <p:nvSpPr>
          <p:cNvPr id="29" name="Text 27"/>
          <p:cNvSpPr/>
          <p:nvPr/>
        </p:nvSpPr>
        <p:spPr>
          <a:xfrm>
            <a:off x="5303520" y="182880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0" y="2926080"/>
            <a:ext cx="1005840" cy="91440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292608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98080" y="1828800"/>
            <a:ext cx="1005840" cy="914400"/>
          </a:xfrm>
          <a:prstGeom prst="roundRect">
            <a:avLst>
              <a:gd name="adj" fmla="val 8000"/>
            </a:avLst>
          </a:prstGeom>
          <a:solidFill>
            <a:srgbClr val="EC4899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0" y="182880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" y="43891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 Export to .ics  •  🔍  Filter by specialty  •  ⚠️  Conflict detection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50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 Mobile Learning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1097280"/>
            <a:ext cx="2743200" cy="34747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254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83280" y="1371600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0" y="146304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4630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Mobile Learning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66160" y="1920240"/>
            <a:ext cx="2011680" cy="36576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920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Chapter 1: Intro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566160" y="2377440"/>
            <a:ext cx="2011680" cy="36576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Chapter 2: Basics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566160" y="2834640"/>
            <a:ext cx="2011680" cy="36576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8346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Chapter 3: Advanced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566160" y="3291840"/>
            <a:ext cx="2011680" cy="36576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</p:spPr>
      </p:sp>
      <p:sp>
        <p:nvSpPr>
          <p:cNvPr id="16" name="Text 14"/>
          <p:cNvSpPr/>
          <p:nvPr/>
        </p:nvSpPr>
        <p:spPr>
          <a:xfrm>
            <a:off x="3566160" y="3291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Quiz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40080" y="137160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1E3AA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13716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 Any Device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219456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1945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📶  Works Offline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0" y="301752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0175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 By Course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0" y="384048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0891B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38404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Self-Paced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50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 Discussions &amp; Announcements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188720"/>
            <a:ext cx="3657600" cy="54864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188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Student: When is the assignment due?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0" y="1920240"/>
            <a:ext cx="3657600" cy="54864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9202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Lecturer: Due Friday at midnight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2651760"/>
            <a:ext cx="3657600" cy="54864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Student: Can we get an extension?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3383280"/>
            <a:ext cx="3657600" cy="54864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33832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Lecturer: I'll consider it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114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 Per Course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697480" y="4114800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2697480" y="4114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 Threaded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4114800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4114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 Pinned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12280" y="4114800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12280" y="4114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 Notifications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50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🆔  Digital ID Card &amp; Transcripts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1E3AA0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IUGET BONABÉRI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97280" y="17373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7373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377440" y="1828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ID CARD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377440" y="210312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 John Doe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Mat: IUGET-2025-001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Spec: Software Engineering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371600" y="2926080"/>
            <a:ext cx="9144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29260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11887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🖨️  Printable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18872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11887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 QR Code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237744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3774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 Verified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66560" y="237744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23774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 PDF Export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657600"/>
            <a:ext cx="7772400" cy="91440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65760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 Official Transcripts  •  📊  GPA Calculation  •  🔒  QR Verified  •  🖨️  Printable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50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Roles &amp; Permissions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Hierarchical access control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50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 Role-Based Access Control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97280"/>
            <a:ext cx="7315200" cy="640080"/>
          </a:xfrm>
          <a:prstGeom prst="roundRect">
            <a:avLst>
              <a:gd name="adj" fmla="val 11429"/>
            </a:avLst>
          </a:prstGeom>
          <a:solidFill>
            <a:srgbClr val="DC2626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097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ADMIN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0" y="1097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System Access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00200" y="1920240"/>
            <a:ext cx="5943600" cy="640080"/>
          </a:xfrm>
          <a:prstGeom prst="roundRect">
            <a:avLst>
              <a:gd name="adj" fmla="val 1142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00200" y="192024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👨‍💼 STAFF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192024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&amp; Finance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0" y="2743200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7C3AED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286000" y="27432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👩‍🏫 LECTURER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0" y="27432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 &amp; Grades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971800" y="356616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EA5E9"/>
          </a:solidFill>
          <a:ln/>
          <a:effectLst>
            <a:outerShdw sx="100000" sy="100000" kx="0" ky="0" algn="bl" rotWithShape="0" blurRad="38100" dist="12700" dir="162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971800" y="3566160"/>
            <a:ext cx="1600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👨‍🎓 STUDENT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3566160"/>
            <a:ext cx="1600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&amp; Submit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43891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⬆️  Higher roles include all lower permissions  ⬆️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50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Permission Matrix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0" y="109728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097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31920" y="109728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0" name="Text 8"/>
          <p:cNvSpPr/>
          <p:nvPr/>
        </p:nvSpPr>
        <p:spPr>
          <a:xfrm>
            <a:off x="3931920" y="1097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77840" y="109728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1097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223760" y="109728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1097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164592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645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0" y="164592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0" y="1645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👁️ View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931920" y="164592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0" y="1645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Mark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77840" y="164592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0" y="1645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Report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23760" y="164592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23760" y="1645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219456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21945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286000" y="219456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0" y="21945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👁️ View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931920" y="219456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0" y="21945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Enter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219456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21945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Report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223760" y="219456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23760" y="21945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All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0080" y="274320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2743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86000" y="274320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0" y="2743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 Pay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31920" y="274320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0" y="2743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274320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77840" y="2743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Track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3760" y="274320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23760" y="2743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All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080" y="329184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32918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86000" y="329184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32918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31920" y="329184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31920" y="32918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77840" y="329184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77840" y="32918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Manage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223760" y="329184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23760" y="32918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All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40080" y="384048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0080" y="3840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286000" y="384048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286000" y="3840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931920" y="384048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931920" y="3840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577840" y="384048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77840" y="3840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23760" y="3840480"/>
            <a:ext cx="146304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23760" y="3840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Edit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6" name="Text 64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50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Design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 &amp; storage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50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  Core Data Entities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1E3AA0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Students, Lecturers,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Staff, Admins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832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204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courses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specialties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Per-course,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per-date records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DC262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+ Exam grades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student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832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3832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33832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204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Tuition structure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payments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264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0891B2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264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1264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Timetable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schedule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50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 Firestore Collections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3258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E3AA0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325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users/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role, specialty, matricule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97480" y="118872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54680" y="13258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3154680" y="1325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97480" y="1920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88920" y="2240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department, credits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754880" y="118872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0" y="13258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1325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1920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attendance/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2240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student, course, date, status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812280" y="118872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69480" y="13258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7269480" y="1325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12280" y="1920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03720" y="2240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mark, exam mark, total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" y="301752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" y="31546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27" name="Text 25"/>
          <p:cNvSpPr/>
          <p:nvPr/>
        </p:nvSpPr>
        <p:spPr>
          <a:xfrm>
            <a:off x="1097280" y="3154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" y="3749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fees/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" y="40690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structure, transactions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697480" y="301752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54680" y="31546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/>
        </p:spPr>
      </p:sp>
      <p:sp>
        <p:nvSpPr>
          <p:cNvPr id="32" name="Text 30"/>
          <p:cNvSpPr/>
          <p:nvPr/>
        </p:nvSpPr>
        <p:spPr>
          <a:xfrm>
            <a:off x="3154680" y="3154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2697480" y="3749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timetable/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788920" y="40690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course, room, time, day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54880" y="301752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12080" y="31546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EC4899"/>
          </a:solidFill>
          <a:ln/>
        </p:spPr>
      </p:sp>
      <p:sp>
        <p:nvSpPr>
          <p:cNvPr id="37" name="Text 35"/>
          <p:cNvSpPr/>
          <p:nvPr/>
        </p:nvSpPr>
        <p:spPr>
          <a:xfrm>
            <a:off x="5212080" y="3154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📢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754880" y="3749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announcements/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46320" y="40690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pinning, dates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812280" y="301752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69480" y="31546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7269480" y="3154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812280" y="3749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assignments/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03720" y="40690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deadlines, submissions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50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 Demo Mode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0" y="1188720"/>
            <a:ext cx="3657600" cy="731520"/>
          </a:xfrm>
          <a:prstGeom prst="roundRect">
            <a:avLst>
              <a:gd name="adj" fmla="val 125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0" y="11887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VITE_DEMO_MODE=true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0" y="1920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⬇️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237744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23774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  localStorage  —  No Server Needed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56616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5661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 Pre-seeded 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356616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35661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Full Features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356616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35661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Persistent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356616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35661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For Evaluation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50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Design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experience &amp; design principles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50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 Design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#1e3aa0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0" y="10972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E6394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1645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92024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#e63946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931920" y="10972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1920" y="1645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931920" y="192024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#0f172a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577840" y="10972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64748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645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77840" y="192024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#64748b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223760" y="10972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23760" y="1645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223760" y="192024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#f8fafc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40080" y="2377440"/>
            <a:ext cx="2377440" cy="1005840"/>
          </a:xfrm>
          <a:prstGeom prst="roundRect">
            <a:avLst>
              <a:gd name="adj" fmla="val 10909"/>
            </a:avLst>
          </a:prstGeom>
          <a:solidFill>
            <a:srgbClr val="1E3AA0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25146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🔤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40080" y="3017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Typography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32918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 + Display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83280" y="2377440"/>
            <a:ext cx="2377440" cy="1005840"/>
          </a:xfrm>
          <a:prstGeom prst="roundRect">
            <a:avLst>
              <a:gd name="adj" fmla="val 1090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383280" y="25146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3383280" y="3017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20440" y="32918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Cards, Buttons, Inputs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26480" y="2377440"/>
            <a:ext cx="2377440" cy="1005840"/>
          </a:xfrm>
          <a:prstGeom prst="roundRect">
            <a:avLst>
              <a:gd name="adj" fmla="val 10909"/>
            </a:avLst>
          </a:prstGeom>
          <a:solidFill>
            <a:srgbClr val="0F172A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26480" y="25146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🌙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126480" y="3017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Mode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63640" y="32918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Class-based toggle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0080" y="3657600"/>
            <a:ext cx="2377440" cy="1005840"/>
          </a:xfrm>
          <a:prstGeom prst="roundRect">
            <a:avLst>
              <a:gd name="adj" fmla="val 10909"/>
            </a:avLst>
          </a:prstGeom>
          <a:solidFill>
            <a:srgbClr val="EC489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40080" y="3794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64008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Animations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7240" y="45720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Framer Motion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383280" y="3657600"/>
            <a:ext cx="2377440" cy="1005840"/>
          </a:xfrm>
          <a:prstGeom prst="roundRect">
            <a:avLst>
              <a:gd name="adj" fmla="val 10909"/>
            </a:avLst>
          </a:prstGeom>
          <a:solidFill>
            <a:srgbClr val="0891B2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383280" y="3794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800" dirty="0"/>
          </a:p>
        </p:txBody>
      </p:sp>
      <p:sp>
        <p:nvSpPr>
          <p:cNvPr id="38" name="Text 36"/>
          <p:cNvSpPr/>
          <p:nvPr/>
        </p:nvSpPr>
        <p:spPr>
          <a:xfrm>
            <a:off x="338328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520440" y="45720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Mobile-first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3657600"/>
            <a:ext cx="2377440" cy="1005840"/>
          </a:xfrm>
          <a:prstGeom prst="roundRect">
            <a:avLst>
              <a:gd name="adj" fmla="val 10909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126480" y="3794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♿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6126480" y="4297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Accessible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263640" y="45720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 compliant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50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🌙  Dark Mode Implementation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188720"/>
            <a:ext cx="3200400" cy="1828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280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☀️  Light Mode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73736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White backgrounds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Dark text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Subtle borders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297680" y="16459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0" y="1188720"/>
            <a:ext cx="3200400" cy="1828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280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🌙  Dark Mode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0" y="173736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Dark backgrounds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Light text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Elevated cards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7472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3AA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747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Tailwind darkMode: class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97480" y="347472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2697480" y="34747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🔘  Toggle in Navbar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347472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34747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  localStorage persistence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347472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34747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 Comprehensive CSS overrides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50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Bilingual Support (EN/FR)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118872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🇬🇧  English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480560" y="13716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212080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🇫🇷  Français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2011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387+ Translation Keys  •  Auto-detect Browser Language  •  localStorage Persistence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274320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2743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27432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80560" y="274320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4480560" y="2743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 de bord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371600" y="324612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32461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40480" y="32461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480560" y="324612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/>
        </p:spPr>
      </p:sp>
      <p:sp>
        <p:nvSpPr>
          <p:cNvPr id="19" name="Text 17"/>
          <p:cNvSpPr/>
          <p:nvPr/>
        </p:nvSpPr>
        <p:spPr>
          <a:xfrm>
            <a:off x="4480560" y="32461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Présences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371600" y="374904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3749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37490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80560" y="374904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4480560" y="3749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371600" y="425196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/>
        </p:spPr>
      </p:sp>
      <p:sp>
        <p:nvSpPr>
          <p:cNvPr id="26" name="Text 24"/>
          <p:cNvSpPr/>
          <p:nvPr/>
        </p:nvSpPr>
        <p:spPr>
          <a:xfrm>
            <a:off x="1371600" y="4251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40480" y="42519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80560" y="425196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/>
        </p:spPr>
      </p:sp>
      <p:sp>
        <p:nvSpPr>
          <p:cNvPr id="29" name="Text 27"/>
          <p:cNvSpPr/>
          <p:nvPr/>
        </p:nvSpPr>
        <p:spPr>
          <a:xfrm>
            <a:off x="4480560" y="4251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connecter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50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Implementation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user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50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 Security Measures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1E3AA0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Auth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Email/Password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974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6974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Guards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346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ProtectedRoute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⏰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548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Timeout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30-min idle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122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122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Hash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94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891B2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API calls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974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EC489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6974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26974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Verify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8346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&amp; Transcript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DC262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7548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7548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920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actions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122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8122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68122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494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forms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50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Quality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Ensuring reliability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50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 Testing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1E3AA0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👨‍💻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Testing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roles &amp; features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974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6974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Cross-Browser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346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Chrome, Firefox, Safari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548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screen sizes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122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891B2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📶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122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94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throttling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Mode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CRUD operations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974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EC489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6974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26974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8346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states, errors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DC262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7548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♿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7548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920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readers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122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8122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68122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494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Lighthouse audit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/ 50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live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/ 50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Deployment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4630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46888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10" name="Text 8"/>
          <p:cNvSpPr/>
          <p:nvPr/>
        </p:nvSpPr>
        <p:spPr>
          <a:xfrm>
            <a:off x="246888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46888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Build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0" y="14630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48056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448056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8056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CDN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26480" y="14630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492240" y="1188720"/>
            <a:ext cx="164592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92240" y="16459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2743200"/>
            <a:ext cx="1828800" cy="164592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/>
          <a:effectLst>
            <a:outerShdw sx="100000" sy="100000" kx="0" ky="0" algn="bl" rotWithShape="0" blurRad="63500" dist="25400" dir="162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2926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40080" y="3200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5661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Hosting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CDN + Edge Functions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697480" y="2743200"/>
            <a:ext cx="1828800" cy="1645920"/>
          </a:xfrm>
          <a:prstGeom prst="roundRect">
            <a:avLst>
              <a:gd name="adj" fmla="val 6667"/>
            </a:avLst>
          </a:prstGeom>
          <a:solidFill>
            <a:srgbClr val="D97706"/>
          </a:solidFill>
          <a:ln/>
          <a:effectLst>
            <a:outerShdw sx="100000" sy="100000" kx="0" ky="0" algn="bl" rotWithShape="0" blurRad="63500" dist="25400" dir="162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697480" y="2926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697480" y="3200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697480" y="35661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+ Firestore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Storage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1828800" cy="164592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/>
          <a:effectLst>
            <a:outerShdw sx="100000" sy="100000" kx="0" ky="0" algn="bl" rotWithShape="0" blurRad="63500" dist="25400" dir="162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54880" y="2926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📶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4754880" y="3200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54880" y="35661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Worker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Support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812280" y="2743200"/>
            <a:ext cx="1828800" cy="164592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  <a:effectLst>
            <a:outerShdw sx="100000" sy="100000" kx="0" ky="0" algn="bl" rotWithShape="0" blurRad="63500" dist="25400" dir="162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812280" y="2926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6812280" y="3200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12280" y="35661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Deploy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main branch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/ 50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Walkthrough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 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/ 50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🏠  Landing Page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97280"/>
            <a:ext cx="7315200" cy="3657600"/>
          </a:xfrm>
          <a:prstGeom prst="roundRect">
            <a:avLst>
              <a:gd name="adj" fmla="val 375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097280"/>
            <a:ext cx="7315200" cy="457200"/>
          </a:xfrm>
          <a:prstGeom prst="roundRect">
            <a:avLst>
              <a:gd name="adj" fmla="val 30000"/>
            </a:avLst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1234440"/>
            <a:ext cx="274320" cy="182880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/>
        </p:spPr>
      </p:sp>
      <p:sp>
        <p:nvSpPr>
          <p:cNvPr id="8" name="Shape 6"/>
          <p:cNvSpPr/>
          <p:nvPr/>
        </p:nvSpPr>
        <p:spPr>
          <a:xfrm>
            <a:off x="1463040" y="1234440"/>
            <a:ext cx="274320" cy="18288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/>
        </p:spPr>
      </p:sp>
      <p:sp>
        <p:nvSpPr>
          <p:cNvPr id="9" name="Shape 7"/>
          <p:cNvSpPr/>
          <p:nvPr/>
        </p:nvSpPr>
        <p:spPr>
          <a:xfrm>
            <a:off x="1828800" y="1234440"/>
            <a:ext cx="274320" cy="18288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/>
        </p:spPr>
      </p:sp>
      <p:sp>
        <p:nvSpPr>
          <p:cNvPr id="10" name="Shape 8"/>
          <p:cNvSpPr/>
          <p:nvPr/>
        </p:nvSpPr>
        <p:spPr>
          <a:xfrm>
            <a:off x="2560320" y="1188720"/>
            <a:ext cx="502920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1188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siarm.vercel.app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371600" y="1737360"/>
            <a:ext cx="6400800" cy="1097280"/>
          </a:xfrm>
          <a:prstGeom prst="roundRect">
            <a:avLst>
              <a:gd name="adj" fmla="val 8333"/>
            </a:avLst>
          </a:prstGeom>
          <a:solidFill>
            <a:srgbClr val="1E3AA0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SIARM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Institution Academic Resource Management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645920" y="301752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1E3AA0"/>
          </a:solidFill>
          <a:ln/>
        </p:spPr>
      </p:sp>
      <p:sp>
        <p:nvSpPr>
          <p:cNvPr id="15" name="Text 13"/>
          <p:cNvSpPr/>
          <p:nvPr/>
        </p:nvSpPr>
        <p:spPr>
          <a:xfrm>
            <a:off x="1645920" y="301752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91840" y="301752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3291840" y="301752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01752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301752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0" y="301752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301752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Timetable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Language Toggle  •  🌙  Dark Mode  •  📱  Responsive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/ 50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👨‍🎓  Student Dashboard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7772400" cy="3474720"/>
          </a:xfrm>
          <a:prstGeom prst="roundRect">
            <a:avLst>
              <a:gd name="adj" fmla="val 315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28016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1E3AA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280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👋  Welcome back, John!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011680"/>
            <a:ext cx="1645920" cy="109728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031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83464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0" y="2011680"/>
            <a:ext cx="1645920" cy="1097280"/>
          </a:xfrm>
          <a:prstGeom prst="roundRect">
            <a:avLst>
              <a:gd name="adj" fmla="val 6667"/>
            </a:avLst>
          </a:prstGeom>
          <a:solidFill>
            <a:srgbClr val="1E3AA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1031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43200" y="2377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743200" y="283464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0" y="2011680"/>
            <a:ext cx="1645920" cy="109728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1031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0" y="2377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0" y="283464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400800" y="2011680"/>
            <a:ext cx="1645920" cy="1097280"/>
          </a:xfrm>
          <a:prstGeom prst="roundRect">
            <a:avLst>
              <a:gd name="adj" fmla="val 6667"/>
            </a:avLst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2377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0" y="283464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14400" y="329184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3291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Attendance Chart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329184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3291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Today's Schedule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384048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📢 Announcements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384048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Fee Balance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/ 50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👩‍🏫  Lecturer Dashboard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1E3AA0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roll calls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832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204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+ Exam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learning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0891B2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deadlines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832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3832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33832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204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threads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26480" y="301752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EC489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2648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1264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3931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classes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/ 50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 Admin Dashboard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09728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1E3AA0"/>
          </a:solidFill>
          <a:ln/>
          <a:effectLst>
            <a:outerShdw sx="100000" sy="100000" kx="0" ky="0" algn="bl" rotWithShape="0" blurRad="63500" dist="25400" dir="162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2,847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97480" y="109728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/>
          <a:effectLst>
            <a:outerShdw sx="100000" sy="100000" kx="0" ky="0" algn="bl" rotWithShape="0" blurRad="63500" dist="25400" dir="162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1188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697480" y="15544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69748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  <a:effectLst>
            <a:outerShdw sx="100000" sy="100000" kx="0" ky="0" algn="bl" rotWithShape="0" blurRad="63500" dist="25400" dir="162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188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754880" y="15544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5488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2280" y="109728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/>
          <a:effectLst>
            <a:outerShdw sx="100000" sy="100000" kx="0" ky="0" algn="bl" rotWithShape="0" blurRad="63500" dist="25400" dir="162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12280" y="1188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812280" y="15544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95M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81228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4400" y="292608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29260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Analytics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926080" y="292608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0" y="29260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AI Insights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937760" y="292608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29260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Settings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49440" y="292608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0" y="29260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Audit Log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3931920"/>
            <a:ext cx="3657600" cy="64008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9319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Enrollment Trends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3931920"/>
            <a:ext cx="3657600" cy="64008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9319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🥧  Department Distribution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/ 50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AI-Powered Chatbot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0" y="1097280"/>
            <a:ext cx="3200400" cy="36576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0" y="1097280"/>
            <a:ext cx="3200400" cy="640080"/>
          </a:xfrm>
          <a:prstGeom prst="roundRect">
            <a:avLst>
              <a:gd name="adj" fmla="val 21429"/>
            </a:avLst>
          </a:prstGeom>
          <a:solidFill>
            <a:srgbClr val="1E3AA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0" y="10972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SIARM AI Assistant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0" y="182880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1E3AA0"/>
          </a:solidFill>
          <a:ln/>
        </p:spPr>
      </p:sp>
      <p:sp>
        <p:nvSpPr>
          <p:cNvPr id="9" name="Text 7"/>
          <p:cNvSpPr/>
          <p:nvPr/>
        </p:nvSpPr>
        <p:spPr>
          <a:xfrm>
            <a:off x="5577840" y="1828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I check attendance?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303520" y="237744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/>
        </p:spPr>
      </p:sp>
      <p:sp>
        <p:nvSpPr>
          <p:cNvPr id="11" name="Text 9"/>
          <p:cNvSpPr/>
          <p:nvPr/>
        </p:nvSpPr>
        <p:spPr>
          <a:xfrm>
            <a:off x="5394960" y="2377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Dashboard → Attendance...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0" y="292608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1E3AA0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2926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pay fees?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303520" y="347472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/>
        </p:spPr>
      </p:sp>
      <p:sp>
        <p:nvSpPr>
          <p:cNvPr id="15" name="Text 13"/>
          <p:cNvSpPr/>
          <p:nvPr/>
        </p:nvSpPr>
        <p:spPr>
          <a:xfrm>
            <a:off x="5394960" y="3474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Fees → Pay Now...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" y="1188720"/>
            <a:ext cx="1280160" cy="1371600"/>
          </a:xfrm>
          <a:prstGeom prst="roundRect">
            <a:avLst>
              <a:gd name="adj" fmla="val 7143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325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" y="16916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20574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EN/FR support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103120" y="1188720"/>
            <a:ext cx="1280160" cy="1371600"/>
          </a:xfrm>
          <a:prstGeom prst="roundRect">
            <a:avLst>
              <a:gd name="adj" fmla="val 7143"/>
            </a:avLst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2103120" y="1325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16916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103120" y="20574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Knows user role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566160" y="1188720"/>
            <a:ext cx="1280160" cy="1371600"/>
          </a:xfrm>
          <a:prstGeom prst="roundRect">
            <a:avLst>
              <a:gd name="adj" fmla="val 7143"/>
            </a:avLst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3566160" y="1325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566160" y="16916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Suggestions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566160" y="20574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questions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" y="2834640"/>
            <a:ext cx="1280160" cy="1371600"/>
          </a:xfrm>
          <a:prstGeom prst="roundRect">
            <a:avLst>
              <a:gd name="adj" fmla="val 7143"/>
            </a:avLst>
          </a:prstGeom>
          <a:solidFill>
            <a:srgbClr val="0891B2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2971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📶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0080" y="33375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Fallback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7033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Predefined answers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03120" y="2834640"/>
            <a:ext cx="1280160" cy="1371600"/>
          </a:xfrm>
          <a:prstGeom prst="roundRect">
            <a:avLst>
              <a:gd name="adj" fmla="val 7143"/>
            </a:avLst>
          </a:prstGeom>
          <a:solidFill>
            <a:srgbClr val="EC4899"/>
          </a:solidFill>
          <a:ln/>
        </p:spPr>
      </p:sp>
      <p:sp>
        <p:nvSpPr>
          <p:cNvPr id="33" name="Text 31"/>
          <p:cNvSpPr/>
          <p:nvPr/>
        </p:nvSpPr>
        <p:spPr>
          <a:xfrm>
            <a:off x="2103120" y="2971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33375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03120" y="37033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Framer Motion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566160" y="2834640"/>
            <a:ext cx="1280160" cy="1371600"/>
          </a:xfrm>
          <a:prstGeom prst="roundRect">
            <a:avLst>
              <a:gd name="adj" fmla="val 7143"/>
            </a:avLst>
          </a:prstGeom>
          <a:solidFill>
            <a:srgbClr val="D97706"/>
          </a:solidFill>
          <a:ln/>
        </p:spPr>
      </p:sp>
      <p:sp>
        <p:nvSpPr>
          <p:cNvPr id="37" name="Text 35"/>
          <p:cNvSpPr/>
          <p:nvPr/>
        </p:nvSpPr>
        <p:spPr>
          <a:xfrm>
            <a:off x="3566160" y="2971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566160" y="33375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AI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566160" y="37033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API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/ 50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1097280" cy="1097280"/>
          </a:xfrm>
          <a:prstGeom prst="roundRect">
            <a:avLst>
              <a:gd name="adj" fmla="val 12500"/>
            </a:avLst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1645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&amp; Impact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outcomes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/ 50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Project Impact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097280"/>
            <a:ext cx="1828800" cy="274320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97480" y="1097280"/>
            <a:ext cx="1828800" cy="274320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697480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2697480" y="3017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1828800" cy="274320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754880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12+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754880" y="3017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12280" y="1097280"/>
            <a:ext cx="1828800" cy="274320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1228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📶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812280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6812280" y="3017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/ 50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Challenges &amp; Solutions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Roles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ProtectedRoute Guards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974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269748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📶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6974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Support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7480" y="20574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9748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+ Workbox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7548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 UI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54880" y="20574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LanguageContext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122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122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Sync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12280" y="20574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228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Listeners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40080" y="3566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38862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069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Simulation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6974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EC4899"/>
          </a:solidFill>
          <a:ln/>
        </p:spPr>
      </p:sp>
      <p:sp>
        <p:nvSpPr>
          <p:cNvPr id="31" name="Text 29"/>
          <p:cNvSpPr/>
          <p:nvPr/>
        </p:nvSpPr>
        <p:spPr>
          <a:xfrm>
            <a:off x="269748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97480" y="3566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Generation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697480" y="38862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697480" y="4069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jsPDF + html2canvas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DC2626"/>
          </a:solidFill>
          <a:ln/>
        </p:spPr>
      </p:sp>
      <p:sp>
        <p:nvSpPr>
          <p:cNvPr id="36" name="Text 34"/>
          <p:cNvSpPr/>
          <p:nvPr/>
        </p:nvSpPr>
        <p:spPr>
          <a:xfrm>
            <a:off x="475488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754880" y="3566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Verification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54880" y="38862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754880" y="4069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qrcode Library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122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F172A"/>
          </a:solidFill>
          <a:ln/>
        </p:spPr>
      </p:sp>
      <p:sp>
        <p:nvSpPr>
          <p:cNvPr id="41" name="Text 39"/>
          <p:cNvSpPr/>
          <p:nvPr/>
        </p:nvSpPr>
        <p:spPr>
          <a:xfrm>
            <a:off x="681228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🌙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6812280" y="3566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Mode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12280" y="38862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812280" y="4069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Class Toggle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/ 50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Future Enhancements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82880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1E3AA0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Notifications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Cloud Messaging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974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📹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6974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Conferencing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346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classes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548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Predictions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analytics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12280" y="11887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891B2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325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1228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9440" y="21031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Native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Boards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integration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974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EC489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6974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🏫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26974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Multi-Campus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8346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IUGET expansion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DC2626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7548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⛓️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7548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920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 verification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12280" y="3017520"/>
            <a:ext cx="1828800" cy="155448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162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81228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681228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Alerts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49440" y="3931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&amp; students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SIARM — IUGET Bonabéri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315200" y="47731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/ 50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058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3200400" y="2103120"/>
            <a:ext cx="2743200" cy="457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James Murdza — Level 3 Software Engineering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IUGET Bonabéri, Douala, Cameroon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Bien choisir c'est déjà réussir » — IUGET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SIARM Defense Presentation</dc:title>
  <dc:subject>PptxGenJS Presentation</dc:subject>
  <dc:creator>James Murdza — IUGET Bonabéri</dc:creator>
  <cp:lastModifiedBy>James Murdza — IUGET Bonabéri</cp:lastModifiedBy>
  <cp:revision>1</cp:revision>
  <dcterms:created xsi:type="dcterms:W3CDTF">2026-07-02T07:51:13Z</dcterms:created>
  <dcterms:modified xsi:type="dcterms:W3CDTF">2026-07-02T07:51:13Z</dcterms:modified>
</cp:coreProperties>
</file>